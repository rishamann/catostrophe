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ОБЛОЖКА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9184"/>
            <a:ext cx="2331720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29184"/>
            <a:ext cx="2084832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4" name="Text 2"/>
          <p:cNvSpPr/>
          <p:nvPr>
            <p:ph idx="102" hasCustomPrompt="1"/>
          </p:nvPr>
        </p:nvSpPr>
        <p:spPr>
          <a:xfrm>
            <a:off x="3200400" y="1335024"/>
            <a:ext cx="548640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0" y="4407408"/>
            <a:ext cx="121889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50" b="1" spc="4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0" y="4709160"/>
            <a:ext cx="121889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0" y="5513832"/>
            <a:ext cx="12188952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100" i="1" dirty="0">
                <a:solidFill>
                  <a:srgbClr val="6E6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21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1828800" y="5870448"/>
            <a:ext cx="8531352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0" y="6263640"/>
            <a:ext cx="121889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5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11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РАЗДЕЛ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57984" y="1700784"/>
            <a:ext cx="7863840" cy="3566160"/>
          </a:xfrm>
          <a:prstGeom prst="rect">
            <a:avLst>
              <a:gd name="adj" fmla="val 3590"/>
            </a:avLst>
          </a:prstGeom>
          <a:solidFill>
            <a:srgbClr val="D9D0C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0" y="1554480"/>
            <a:ext cx="7863840" cy="3566160"/>
          </a:xfrm>
          <a:prstGeom prst="rect">
            <a:avLst>
              <a:gd name="adj" fmla="val 3590"/>
            </a:avLst>
          </a:prstGeom>
          <a:solidFill>
            <a:srgbClr val="3A3355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4114800"/>
            <a:ext cx="713232" cy="713232"/>
          </a:xfrm>
          <a:prstGeom prst="rect">
            <a:avLst>
              <a:gd name="adj" fmla="val 8974"/>
            </a:avLst>
          </a:prstGeom>
          <a:solidFill>
            <a:srgbClr val="E896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Котику грустно · MVP</a:t>
            </a:r>
            <a:endParaRPr lang="en-US" sz="11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251460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4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2468880" y="2286000"/>
            <a:ext cx="69494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2514600" y="3401568"/>
            <a:ext cx="60350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5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3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ТРИ_КАРТОЧКИ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9184"/>
            <a:ext cx="2331720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29184"/>
            <a:ext cx="2084832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Котику грустно · MVP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2852928"/>
            <a:ext cx="3465576" cy="2743200"/>
          </a:xfrm>
          <a:prstGeom prst="rect">
            <a:avLst>
              <a:gd name="adj" fmla="val 3333"/>
            </a:avLst>
          </a:prstGeom>
          <a:solidFill>
            <a:srgbClr val="D9D0C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743200"/>
            <a:ext cx="3465576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1416" y="2852928"/>
            <a:ext cx="3465576" cy="2743200"/>
          </a:xfrm>
          <a:prstGeom prst="rect">
            <a:avLst>
              <a:gd name="adj" fmla="val 3333"/>
            </a:avLst>
          </a:prstGeom>
          <a:solidFill>
            <a:srgbClr val="D9D0C0"/>
          </a:solidFill>
          <a:ln/>
        </p:spPr>
      </p:sp>
      <p:sp>
        <p:nvSpPr>
          <p:cNvPr id="8" name="Shape 6"/>
          <p:cNvSpPr/>
          <p:nvPr/>
        </p:nvSpPr>
        <p:spPr>
          <a:xfrm>
            <a:off x="4361688" y="2743200"/>
            <a:ext cx="3465576" cy="2743200"/>
          </a:xfrm>
          <a:prstGeom prst="rect">
            <a:avLst>
              <a:gd name="adj" fmla="val 3333"/>
            </a:avLst>
          </a:prstGeom>
          <a:solidFill>
            <a:srgbClr val="3A3355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3024" y="2852928"/>
            <a:ext cx="3465576" cy="2743200"/>
          </a:xfrm>
          <a:prstGeom prst="rect">
            <a:avLst>
              <a:gd name="adj" fmla="val 3333"/>
            </a:avLst>
          </a:prstGeom>
          <a:solidFill>
            <a:srgbClr val="D9D0C0"/>
          </a:solidFill>
          <a:ln/>
        </p:spPr>
      </p:sp>
      <p:sp>
        <p:nvSpPr>
          <p:cNvPr id="10" name="Shape 8"/>
          <p:cNvSpPr/>
          <p:nvPr/>
        </p:nvSpPr>
        <p:spPr>
          <a:xfrm>
            <a:off x="8083296" y="2743200"/>
            <a:ext cx="3465576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11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3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6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7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8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9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0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ПЯТЬ_СТРОК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9184"/>
            <a:ext cx="2331720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29184"/>
            <a:ext cx="2084832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Котику грустно · MVP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724912"/>
            <a:ext cx="10908792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419856"/>
            <a:ext cx="10908792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4114800"/>
            <a:ext cx="10908792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4809744"/>
            <a:ext cx="10908792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5504688"/>
            <a:ext cx="10908792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10" name="Text 8"/>
          <p:cNvSpPr/>
          <p:nvPr>
            <p:ph idx="108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1" name="Text 8"/>
          <p:cNvSpPr/>
          <p:nvPr>
            <p:ph idx="109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300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1463040" y="2807208"/>
            <a:ext cx="2834640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4" name="Text 8"/>
          <p:cNvSpPr/>
          <p:nvPr>
            <p:ph idx="112" type="body" hasCustomPrompt="1"/>
          </p:nvPr>
        </p:nvSpPr>
        <p:spPr>
          <a:xfrm>
            <a:off x="4480560" y="2807208"/>
            <a:ext cx="6858000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5" name="Text 8"/>
          <p:cNvSpPr/>
          <p:nvPr>
            <p:ph idx="113" type="body" hasCustomPrompt="1"/>
          </p:nvPr>
        </p:nvSpPr>
        <p:spPr>
          <a:xfrm>
            <a:off x="1463040" y="3502152"/>
            <a:ext cx="2834640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6" name="Text 8"/>
          <p:cNvSpPr/>
          <p:nvPr>
            <p:ph idx="114" type="body" hasCustomPrompt="1"/>
          </p:nvPr>
        </p:nvSpPr>
        <p:spPr>
          <a:xfrm>
            <a:off x="4480560" y="3502152"/>
            <a:ext cx="6858000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7" name="Text 8"/>
          <p:cNvSpPr/>
          <p:nvPr>
            <p:ph idx="115" type="body" hasCustomPrompt="1"/>
          </p:nvPr>
        </p:nvSpPr>
        <p:spPr>
          <a:xfrm>
            <a:off x="1463040" y="4197096"/>
            <a:ext cx="2834640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8" name="Text 8"/>
          <p:cNvSpPr/>
          <p:nvPr>
            <p:ph idx="116" type="body" hasCustomPrompt="1"/>
          </p:nvPr>
        </p:nvSpPr>
        <p:spPr>
          <a:xfrm>
            <a:off x="4480560" y="4197096"/>
            <a:ext cx="6858000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9" name="Text 8"/>
          <p:cNvSpPr/>
          <p:nvPr>
            <p:ph idx="117" type="body" hasCustomPrompt="1"/>
          </p:nvPr>
        </p:nvSpPr>
        <p:spPr>
          <a:xfrm>
            <a:off x="1463040" y="4892040"/>
            <a:ext cx="2834640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0" name="Text 8"/>
          <p:cNvSpPr/>
          <p:nvPr>
            <p:ph idx="118" type="body" hasCustomPrompt="1"/>
          </p:nvPr>
        </p:nvSpPr>
        <p:spPr>
          <a:xfrm>
            <a:off x="4480560" y="4892040"/>
            <a:ext cx="6858000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1" name="Text 8"/>
          <p:cNvSpPr/>
          <p:nvPr>
            <p:ph idx="119" type="body" hasCustomPrompt="1"/>
          </p:nvPr>
        </p:nvSpPr>
        <p:spPr>
          <a:xfrm>
            <a:off x="1463040" y="5586984"/>
            <a:ext cx="2834640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2" name="Text 8"/>
          <p:cNvSpPr/>
          <p:nvPr>
            <p:ph idx="120" type="body" hasCustomPrompt="1"/>
          </p:nvPr>
        </p:nvSpPr>
        <p:spPr>
          <a:xfrm>
            <a:off x="4480560" y="5586984"/>
            <a:ext cx="6858000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КАРТИНКА_И_СТРОКИ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9184"/>
            <a:ext cx="2331720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29184"/>
            <a:ext cx="2084832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Котику грустно · MVP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2807208"/>
            <a:ext cx="2286000" cy="3383280"/>
          </a:xfrm>
          <a:prstGeom prst="rect">
            <a:avLst>
              <a:gd name="adj" fmla="val 4000"/>
            </a:avLst>
          </a:prstGeom>
          <a:solidFill>
            <a:srgbClr val="D9D0C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697480"/>
            <a:ext cx="2286000" cy="338328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2697480"/>
            <a:ext cx="8028432" cy="768096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3593592"/>
            <a:ext cx="8028432" cy="768096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4489704"/>
            <a:ext cx="8028432" cy="768096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5385816"/>
            <a:ext cx="8028432" cy="768096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11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3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4" name="Text 9"/>
          <p:cNvSpPr/>
          <p:nvPr>
            <p:ph idx="112" hasCustomPrompt="1"/>
          </p:nvPr>
        </p:nvSpPr>
        <p:spPr>
          <a:xfrm>
            <a:off x="749808" y="2807208"/>
            <a:ext cx="2066544" cy="31638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3794760" y="2788920"/>
            <a:ext cx="74980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16" name="Text 9"/>
          <p:cNvSpPr/>
          <p:nvPr>
            <p:ph idx="114" type="body" hasCustomPrompt="1"/>
          </p:nvPr>
        </p:nvSpPr>
        <p:spPr>
          <a:xfrm>
            <a:off x="3794760" y="3044952"/>
            <a:ext cx="74980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7" name="Text 9"/>
          <p:cNvSpPr/>
          <p:nvPr>
            <p:ph idx="115" type="body" hasCustomPrompt="1"/>
          </p:nvPr>
        </p:nvSpPr>
        <p:spPr>
          <a:xfrm>
            <a:off x="3794760" y="3685032"/>
            <a:ext cx="74980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18" name="Text 9"/>
          <p:cNvSpPr/>
          <p:nvPr>
            <p:ph idx="116" type="body" hasCustomPrompt="1"/>
          </p:nvPr>
        </p:nvSpPr>
        <p:spPr>
          <a:xfrm>
            <a:off x="3794760" y="3941064"/>
            <a:ext cx="74980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9" name="Text 9"/>
          <p:cNvSpPr/>
          <p:nvPr>
            <p:ph idx="117" type="body" hasCustomPrompt="1"/>
          </p:nvPr>
        </p:nvSpPr>
        <p:spPr>
          <a:xfrm>
            <a:off x="3794760" y="4581144"/>
            <a:ext cx="74980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20" name="Text 9"/>
          <p:cNvSpPr/>
          <p:nvPr>
            <p:ph idx="118" type="body" hasCustomPrompt="1"/>
          </p:nvPr>
        </p:nvSpPr>
        <p:spPr>
          <a:xfrm>
            <a:off x="3794760" y="4837176"/>
            <a:ext cx="74980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1" name="Text 9"/>
          <p:cNvSpPr/>
          <p:nvPr>
            <p:ph idx="119" type="body" hasCustomPrompt="1"/>
          </p:nvPr>
        </p:nvSpPr>
        <p:spPr>
          <a:xfrm>
            <a:off x="3794760" y="5477256"/>
            <a:ext cx="74980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22" name="Text 9"/>
          <p:cNvSpPr/>
          <p:nvPr>
            <p:ph idx="120" type="body" hasCustomPrompt="1"/>
          </p:nvPr>
        </p:nvSpPr>
        <p:spPr>
          <a:xfrm>
            <a:off x="3794760" y="5733288"/>
            <a:ext cx="74980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_ЦИТАТА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9184"/>
            <a:ext cx="2331720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29184"/>
            <a:ext cx="2084832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Котику грустно · MVP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60704" y="2798064"/>
            <a:ext cx="10058400" cy="2331720"/>
          </a:xfrm>
          <a:prstGeom prst="rect">
            <a:avLst>
              <a:gd name="adj" fmla="val 4706"/>
            </a:avLst>
          </a:prstGeom>
          <a:solidFill>
            <a:srgbClr val="D9D0C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51760"/>
            <a:ext cx="10058400" cy="2331720"/>
          </a:xfrm>
          <a:prstGeom prst="rect">
            <a:avLst>
              <a:gd name="adj" fmla="val 4706"/>
            </a:avLst>
          </a:prstGeom>
          <a:solidFill>
            <a:srgbClr val="3A335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926080"/>
            <a:ext cx="1051560" cy="1051560"/>
          </a:xfrm>
          <a:prstGeom prst="rect">
            <a:avLst>
              <a:gd name="adj" fmla="val 6957"/>
            </a:avLst>
          </a:prstGeom>
          <a:solidFill>
            <a:srgbClr val="E8963C"/>
          </a:solidFill>
          <a:ln/>
        </p:spPr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9" name="Text 6"/>
          <p:cNvSpPr/>
          <p:nvPr>
            <p:ph idx="107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300" dirty="0"/>
          </a:p>
        </p:txBody>
      </p:sp>
      <p:sp>
        <p:nvSpPr>
          <p:cNvPr id="10" name="Text 6"/>
          <p:cNvSpPr/>
          <p:nvPr>
            <p:ph idx="108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1" name="Text 6"/>
          <p:cNvSpPr/>
          <p:nvPr>
            <p:ph idx="109" type="body" hasCustomPrompt="1"/>
          </p:nvPr>
        </p:nvSpPr>
        <p:spPr>
          <a:xfrm>
            <a:off x="2514600" y="2999232"/>
            <a:ext cx="8138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2" name="Text 6"/>
          <p:cNvSpPr/>
          <p:nvPr>
            <p:ph idx="110" type="body" hasCustomPrompt="1"/>
          </p:nvPr>
        </p:nvSpPr>
        <p:spPr>
          <a:xfrm>
            <a:off x="2542032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960120" y="525780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_ДВЕ_КОЛОНКИ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9184"/>
            <a:ext cx="2331720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29184"/>
            <a:ext cx="2084832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Котику грустно · MVP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2807208"/>
            <a:ext cx="5943600" cy="2743200"/>
          </a:xfrm>
          <a:prstGeom prst="rect">
            <a:avLst>
              <a:gd name="adj" fmla="val 3333"/>
            </a:avLst>
          </a:prstGeom>
          <a:solidFill>
            <a:srgbClr val="D9D0C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697480"/>
            <a:ext cx="594360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807208"/>
            <a:ext cx="4462272" cy="2743200"/>
          </a:xfrm>
          <a:prstGeom prst="rect">
            <a:avLst>
              <a:gd name="adj" fmla="val 3333"/>
            </a:avLst>
          </a:prstGeom>
          <a:solidFill>
            <a:srgbClr val="D9D0C0"/>
          </a:solidFill>
          <a:ln/>
        </p:spPr>
      </p:sp>
      <p:sp>
        <p:nvSpPr>
          <p:cNvPr id="8" name="Shape 6"/>
          <p:cNvSpPr/>
          <p:nvPr/>
        </p:nvSpPr>
        <p:spPr>
          <a:xfrm>
            <a:off x="6976872" y="2697480"/>
            <a:ext cx="4462272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3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1481328" y="2880360"/>
            <a:ext cx="53949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3" name="Text 7"/>
          <p:cNvSpPr/>
          <p:nvPr>
            <p:ph idx="111" type="body" hasCustomPrompt="1"/>
          </p:nvPr>
        </p:nvSpPr>
        <p:spPr>
          <a:xfrm>
            <a:off x="914400" y="3310128"/>
            <a:ext cx="54406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14" name="Text 7"/>
          <p:cNvSpPr/>
          <p:nvPr>
            <p:ph idx="112" type="body" hasCustomPrompt="1"/>
          </p:nvPr>
        </p:nvSpPr>
        <p:spPr>
          <a:xfrm>
            <a:off x="7818120" y="2880360"/>
            <a:ext cx="33832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5" name="Text 7"/>
          <p:cNvSpPr/>
          <p:nvPr>
            <p:ph idx="113" type="body" hasCustomPrompt="1"/>
          </p:nvPr>
        </p:nvSpPr>
        <p:spPr>
          <a:xfrm>
            <a:off x="7251192" y="3310128"/>
            <a:ext cx="39776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16" name="Text 7"/>
          <p:cNvSpPr/>
          <p:nvPr>
            <p:ph idx="114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_ЧЕТЫРЕ_ЦИФРЫ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9184"/>
            <a:ext cx="2331720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29184"/>
            <a:ext cx="2084832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Котику грустно · MVP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2852928"/>
            <a:ext cx="2535174" cy="2468880"/>
          </a:xfrm>
          <a:prstGeom prst="rect">
            <a:avLst>
              <a:gd name="adj" fmla="val 3704"/>
            </a:avLst>
          </a:prstGeom>
          <a:solidFill>
            <a:srgbClr val="D9D0C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743200"/>
            <a:ext cx="2535174" cy="2468880"/>
          </a:xfrm>
          <a:prstGeom prst="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41014" y="2852928"/>
            <a:ext cx="2535174" cy="2468880"/>
          </a:xfrm>
          <a:prstGeom prst="rect">
            <a:avLst>
              <a:gd name="adj" fmla="val 3704"/>
            </a:avLst>
          </a:prstGeom>
          <a:solidFill>
            <a:srgbClr val="D9D0C0"/>
          </a:solidFill>
          <a:ln/>
        </p:spPr>
      </p:sp>
      <p:sp>
        <p:nvSpPr>
          <p:cNvPr id="8" name="Shape 6"/>
          <p:cNvSpPr/>
          <p:nvPr/>
        </p:nvSpPr>
        <p:spPr>
          <a:xfrm>
            <a:off x="3431286" y="2743200"/>
            <a:ext cx="2535174" cy="2468880"/>
          </a:xfrm>
          <a:prstGeom prst="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2220" y="2852928"/>
            <a:ext cx="2535174" cy="2468880"/>
          </a:xfrm>
          <a:prstGeom prst="rect">
            <a:avLst>
              <a:gd name="adj" fmla="val 3704"/>
            </a:avLst>
          </a:prstGeom>
          <a:solidFill>
            <a:srgbClr val="D9D0C0"/>
          </a:solidFill>
          <a:ln/>
        </p:spPr>
      </p:sp>
      <p:sp>
        <p:nvSpPr>
          <p:cNvPr id="10" name="Shape 8"/>
          <p:cNvSpPr/>
          <p:nvPr/>
        </p:nvSpPr>
        <p:spPr>
          <a:xfrm>
            <a:off x="6222492" y="2743200"/>
            <a:ext cx="2535174" cy="2468880"/>
          </a:xfrm>
          <a:prstGeom prst="rect">
            <a:avLst>
              <a:gd name="adj" fmla="val 3704"/>
            </a:avLst>
          </a:prstGeom>
          <a:solidFill>
            <a:srgbClr val="3A3355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23426" y="2852928"/>
            <a:ext cx="2535174" cy="2468880"/>
          </a:xfrm>
          <a:prstGeom prst="rect">
            <a:avLst>
              <a:gd name="adj" fmla="val 3704"/>
            </a:avLst>
          </a:prstGeom>
          <a:solidFill>
            <a:srgbClr val="D9D0C0"/>
          </a:solidFill>
          <a:ln/>
        </p:spPr>
      </p:sp>
      <p:sp>
        <p:nvSpPr>
          <p:cNvPr id="12" name="Shape 10"/>
          <p:cNvSpPr/>
          <p:nvPr/>
        </p:nvSpPr>
        <p:spPr>
          <a:xfrm>
            <a:off x="9013698" y="2743200"/>
            <a:ext cx="2535174" cy="2468880"/>
          </a:xfrm>
          <a:prstGeom prst="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13" name="Text 11"/>
          <p:cNvSpPr/>
          <p:nvPr>
            <p:ph idx="111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1"/>
          <p:cNvSpPr/>
          <p:nvPr>
            <p:ph idx="112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300" dirty="0"/>
          </a:p>
        </p:txBody>
      </p:sp>
      <p:sp>
        <p:nvSpPr>
          <p:cNvPr id="15" name="Text 11"/>
          <p:cNvSpPr/>
          <p:nvPr>
            <p:ph idx="113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6" name="Text 11"/>
          <p:cNvSpPr/>
          <p:nvPr>
            <p:ph idx="114" type="body" hasCustomPrompt="1"/>
          </p:nvPr>
        </p:nvSpPr>
        <p:spPr>
          <a:xfrm>
            <a:off x="896112" y="2962656"/>
            <a:ext cx="202311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17" name="Text 11"/>
          <p:cNvSpPr/>
          <p:nvPr>
            <p:ph idx="115" type="body" hasCustomPrompt="1"/>
          </p:nvPr>
        </p:nvSpPr>
        <p:spPr>
          <a:xfrm>
            <a:off x="896112" y="3767328"/>
            <a:ext cx="202311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8" name="Text 11"/>
          <p:cNvSpPr/>
          <p:nvPr>
            <p:ph idx="116" type="body" hasCustomPrompt="1"/>
          </p:nvPr>
        </p:nvSpPr>
        <p:spPr>
          <a:xfrm>
            <a:off x="896112" y="4114800"/>
            <a:ext cx="202311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9" name="Text 11"/>
          <p:cNvSpPr/>
          <p:nvPr>
            <p:ph idx="117" type="body" hasCustomPrompt="1"/>
          </p:nvPr>
        </p:nvSpPr>
        <p:spPr>
          <a:xfrm>
            <a:off x="3687318" y="2962656"/>
            <a:ext cx="202311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20" name="Text 11"/>
          <p:cNvSpPr/>
          <p:nvPr>
            <p:ph idx="118" type="body" hasCustomPrompt="1"/>
          </p:nvPr>
        </p:nvSpPr>
        <p:spPr>
          <a:xfrm>
            <a:off x="3687318" y="3767328"/>
            <a:ext cx="202311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1"/>
          <p:cNvSpPr/>
          <p:nvPr>
            <p:ph idx="119" type="body" hasCustomPrompt="1"/>
          </p:nvPr>
        </p:nvSpPr>
        <p:spPr>
          <a:xfrm>
            <a:off x="3687318" y="4114800"/>
            <a:ext cx="202311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2" name="Text 11"/>
          <p:cNvSpPr/>
          <p:nvPr>
            <p:ph idx="120" type="body" hasCustomPrompt="1"/>
          </p:nvPr>
        </p:nvSpPr>
        <p:spPr>
          <a:xfrm>
            <a:off x="6478524" y="2962656"/>
            <a:ext cx="202311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23" name="Text 11"/>
          <p:cNvSpPr/>
          <p:nvPr>
            <p:ph idx="121" type="body" hasCustomPrompt="1"/>
          </p:nvPr>
        </p:nvSpPr>
        <p:spPr>
          <a:xfrm>
            <a:off x="6478524" y="3767328"/>
            <a:ext cx="202311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4" name="Text 11"/>
          <p:cNvSpPr/>
          <p:nvPr>
            <p:ph idx="122" type="body" hasCustomPrompt="1"/>
          </p:nvPr>
        </p:nvSpPr>
        <p:spPr>
          <a:xfrm>
            <a:off x="6478524" y="4114800"/>
            <a:ext cx="202311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Text 11"/>
          <p:cNvSpPr/>
          <p:nvPr>
            <p:ph idx="123" type="body" hasCustomPrompt="1"/>
          </p:nvPr>
        </p:nvSpPr>
        <p:spPr>
          <a:xfrm>
            <a:off x="9269730" y="2962656"/>
            <a:ext cx="202311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26" name="Text 11"/>
          <p:cNvSpPr/>
          <p:nvPr>
            <p:ph idx="124" type="body" hasCustomPrompt="1"/>
          </p:nvPr>
        </p:nvSpPr>
        <p:spPr>
          <a:xfrm>
            <a:off x="9269730" y="3767328"/>
            <a:ext cx="202311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7" name="Text 11"/>
          <p:cNvSpPr/>
          <p:nvPr>
            <p:ph idx="125" type="body" hasCustomPrompt="1"/>
          </p:nvPr>
        </p:nvSpPr>
        <p:spPr>
          <a:xfrm>
            <a:off x="9269730" y="4114800"/>
            <a:ext cx="202311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8" name="Text 11"/>
          <p:cNvSpPr/>
          <p:nvPr>
            <p:ph idx="126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СВОБОДНАЯ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9184"/>
            <a:ext cx="2331720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29184"/>
            <a:ext cx="2084832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Котику грустно · MVP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3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СОДЕРЖАНИЕ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9184"/>
            <a:ext cx="2331720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29184"/>
            <a:ext cx="2084832" cy="566928"/>
          </a:xfrm>
          <a:prstGeom prst="rect">
            <a:avLst>
              <a:gd name="adj" fmla="val 22581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Котику грустно · MVP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3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ФИНАЛ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57984" y="1792224"/>
            <a:ext cx="7863840" cy="3383280"/>
          </a:xfrm>
          <a:prstGeom prst="rect">
            <a:avLst>
              <a:gd name="adj" fmla="val 3784"/>
            </a:avLst>
          </a:prstGeom>
          <a:solidFill>
            <a:srgbClr val="D9D0C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0" y="1645920"/>
            <a:ext cx="7863840" cy="3383280"/>
          </a:xfrm>
          <a:prstGeom prst="rect">
            <a:avLst>
              <a:gd name="adj" fmla="val 3784"/>
            </a:avLst>
          </a:prstGeom>
          <a:solidFill>
            <a:srgbClr val="3A3355"/>
          </a:solidFill>
          <a:ln/>
        </p:spPr>
      </p:sp>
      <p:sp>
        <p:nvSpPr>
          <p:cNvPr id="4" name="Shape 2"/>
          <p:cNvSpPr/>
          <p:nvPr/>
        </p:nvSpPr>
        <p:spPr>
          <a:xfrm>
            <a:off x="5751576" y="2057400"/>
            <a:ext cx="777240" cy="777240"/>
          </a:xfrm>
          <a:prstGeom prst="rect">
            <a:avLst>
              <a:gd name="adj" fmla="val 9412"/>
            </a:avLst>
          </a:prstGeom>
          <a:solidFill>
            <a:srgbClr val="E896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Котику грустно · MVP</a:t>
            </a:r>
            <a:endParaRPr lang="en-US" sz="11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2468880" y="30175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2834640" y="3794760"/>
            <a:ext cx="6217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5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0" y="5440680"/>
            <a:ext cx="12188952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i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3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4" Type="http://schemas.openxmlformats.org/officeDocument/2006/relationships/slide" Target="slide10.xml"/><Relationship Id="rId5" Type="http://schemas.openxmlformats.org/officeDocument/2006/relationships/slide" Target="slide18.xml"/><Relationship Id="rId6" Type="http://schemas.openxmlformats.org/officeDocument/2006/relationships/slide" Target="slide24.xml"/><Relationship Id="rId7" Type="http://schemas.openxmlformats.org/officeDocument/2006/relationships/slide" Target="slide29.xml"/><Relationship Id="rId8" Type="http://schemas.openxmlformats.org/officeDocument/2006/relationships/slide" Target="slide33.xml"/><Relationship Id="rId9" Type="http://schemas.openxmlformats.org/officeDocument/2006/relationships/slide" Target="slide42.xml"/><Relationship Id="rId10" Type="http://schemas.openxmlformats.org/officeDocument/2006/relationships/slide" Target="slide47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1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image" Target="../media/image-40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image" Target="../media/image-47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911700" y="1481328"/>
            <a:ext cx="2356409" cy="2743200"/>
          </a:xfrm>
          <a:prstGeom prst="roundRect">
            <a:avLst>
              <a:gd name="adj" fmla="val 3880"/>
            </a:avLst>
          </a:prstGeom>
          <a:solidFill>
            <a:srgbClr val="3A3355"/>
          </a:solidFill>
          <a:ln/>
        </p:spPr>
      </p:sp>
      <p:pic>
        <p:nvPicPr>
          <p:cNvPr id="10" name="Image 2" descr="room_bann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396" y="1335024"/>
            <a:ext cx="2356409" cy="2743200"/>
          </a:xfrm>
          <a:prstGeom prst="rect">
            <a:avLst/>
          </a:prstGeom>
        </p:spPr>
      </p:pic>
      <p:sp>
        <p:nvSpPr>
          <p:cNvPr id="11" name="Text 2"/>
          <p:cNvSpPr/>
          <p:nvPr>
            <p:ph idx="103" type="body" hasCustomPrompt="1"/>
          </p:nvPr>
        </p:nvSpPr>
        <p:spPr>
          <a:xfrm>
            <a:off x="0" y="4407408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250" b="1" spc="4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БРИФ ПРОЕКТА · MVP</a:t>
            </a:r>
            <a:endParaRPr lang="en-US" sz="1250" dirty="0"/>
          </a:p>
        </p:txBody>
      </p:sp>
      <p:sp>
        <p:nvSpPr>
          <p:cNvPr id="12" name="Text 2"/>
          <p:cNvSpPr/>
          <p:nvPr>
            <p:ph idx="104" type="title" hasCustomPrompt="1"/>
          </p:nvPr>
        </p:nvSpPr>
        <p:spPr>
          <a:xfrm>
            <a:off x="0" y="47091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 Was Here</a:t>
            </a:r>
            <a:endParaRPr lang="en-US" sz="4800" dirty="0"/>
          </a:p>
        </p:txBody>
      </p:sp>
      <p:sp>
        <p:nvSpPr>
          <p:cNvPr id="13" name="Text 2"/>
          <p:cNvSpPr/>
          <p:nvPr>
            <p:ph idx="105" type="body" hasCustomPrompt="1"/>
          </p:nvPr>
        </p:nvSpPr>
        <p:spPr>
          <a:xfrm>
            <a:off x="0" y="5513832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6E6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Котику грустно</a:t>
            </a:r>
            <a:pPr algn="ctr" indent="0" marL="0">
              <a:buNone/>
            </a:pPr>
            <a:r>
              <a:rPr lang="en-US" sz="2100" b="1" i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</a:t>
            </a:r>
            <a:endParaRPr lang="en-US" sz="2100" dirty="0"/>
          </a:p>
        </p:txBody>
      </p:sp>
      <p:sp>
        <p:nvSpPr>
          <p:cNvPr id="14" name="Text 2"/>
          <p:cNvSpPr/>
          <p:nvPr>
            <p:ph idx="106" type="body" hasCustomPrompt="1"/>
          </p:nvPr>
        </p:nvSpPr>
        <p:spPr>
          <a:xfrm>
            <a:off x="1828800" y="5870448"/>
            <a:ext cx="8531352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Уютный веб-тамагочи про кота, который влипает в смешные ситуации</a:t>
            </a:r>
            <a:endParaRPr lang="en-US" sz="1500" dirty="0"/>
          </a:p>
        </p:txBody>
      </p:sp>
      <p:sp>
        <p:nvSpPr>
          <p:cNvPr id="15" name="Text 2"/>
          <p:cNvSpPr/>
          <p:nvPr>
            <p:ph idx="107" type="body" hasCustomPrompt="1"/>
          </p:nvPr>
        </p:nvSpPr>
        <p:spPr>
          <a:xfrm>
            <a:off x="0" y="62636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рабочее название · версия 2.0 · август 2026</a:t>
            </a:r>
            <a:endParaRPr lang="en-US" sz="1150" dirty="0"/>
          </a:p>
        </p:txBody>
      </p:sp>
      <p:sp>
        <p:nvSpPr>
          <p:cNvPr id="16" name="Text 2"/>
          <p:cNvSpPr/>
          <p:nvPr>
            <p:ph idx="102" hasCustomPrompt="1"/>
          </p:nvPr>
        </p:nvSpPr>
        <p:spPr>
          <a:xfrm>
            <a:off x="3200400" y="1335024"/>
            <a:ext cx="5486400" cy="2743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3"/>
          <p:cNvSpPr/>
          <p:nvPr>
            <p:ph idx="103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</a:t>
            </a:r>
            <a:endParaRPr lang="en-US" sz="1100" dirty="0"/>
          </a:p>
        </p:txBody>
      </p:sp>
      <p:sp>
        <p:nvSpPr>
          <p:cNvPr id="10" name="Text 3"/>
          <p:cNvSpPr/>
          <p:nvPr>
            <p:ph idx="104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Содержание</a:t>
            </a:r>
            <a:endParaRPr lang="en-US" sz="3300" dirty="0"/>
          </a:p>
        </p:txBody>
      </p:sp>
      <p:sp>
        <p:nvSpPr>
          <p:cNvPr id="11" name="Text 3"/>
          <p:cNvSpPr/>
          <p:nvPr>
            <p:ph idx="105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Кликните по разделу, чтобы перейти к нему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22376" y="2825496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D9D0C0"/>
          </a:solidFill>
          <a:ln/>
        </p:spPr>
      </p:sp>
      <p:sp>
        <p:nvSpPr>
          <p:cNvPr id="13" name="Shape 9"/>
          <p:cNvSpPr/>
          <p:nvPr/>
        </p:nvSpPr>
        <p:spPr>
          <a:xfrm>
            <a:off x="640080" y="274320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2898648"/>
            <a:ext cx="566928" cy="438912"/>
          </a:xfrm>
          <a:prstGeom prst="roundRect">
            <a:avLst>
              <a:gd name="adj" fmla="val 14583"/>
            </a:avLst>
          </a:prstGeom>
          <a:solidFill>
            <a:srgbClr val="3A3355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294436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2">
            <a:hlinkClick r:id="rId3" tooltip="" action="ppaction://hlinksldjump"/>
          </p:cNvPr>
          <p:cNvSpPr/>
          <p:nvPr/>
        </p:nvSpPr>
        <p:spPr>
          <a:xfrm>
            <a:off x="1536192" y="2843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Игра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166360" y="296265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с. 3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327648" y="2825496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D9D0C0"/>
          </a:solidFill>
          <a:ln/>
        </p:spPr>
      </p:sp>
      <p:sp>
        <p:nvSpPr>
          <p:cNvPr id="19" name="Shape 15"/>
          <p:cNvSpPr/>
          <p:nvPr/>
        </p:nvSpPr>
        <p:spPr>
          <a:xfrm>
            <a:off x="6245352" y="274320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28232" y="2898648"/>
            <a:ext cx="566928" cy="438912"/>
          </a:xfrm>
          <a:prstGeom prst="roundRect">
            <a:avLst>
              <a:gd name="adj" fmla="val 14583"/>
            </a:avLst>
          </a:prstGeom>
          <a:solidFill>
            <a:srgbClr val="3A3355"/>
          </a:solidFill>
          <a:ln/>
        </p:spPr>
      </p:sp>
      <p:sp>
        <p:nvSpPr>
          <p:cNvPr id="21" name="Text 17"/>
          <p:cNvSpPr/>
          <p:nvPr/>
        </p:nvSpPr>
        <p:spPr>
          <a:xfrm>
            <a:off x="6428232" y="294436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18">
            <a:hlinkClick r:id="rId4" tooltip="" action="ppaction://hlinksldjump"/>
          </p:cNvPr>
          <p:cNvSpPr/>
          <p:nvPr/>
        </p:nvSpPr>
        <p:spPr>
          <a:xfrm>
            <a:off x="7141464" y="2843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Геймплей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0771632" y="296265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с. 10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722376" y="3694176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D9D0C0"/>
          </a:solidFill>
          <a:ln/>
        </p:spPr>
      </p:sp>
      <p:sp>
        <p:nvSpPr>
          <p:cNvPr id="25" name="Shape 21"/>
          <p:cNvSpPr/>
          <p:nvPr/>
        </p:nvSpPr>
        <p:spPr>
          <a:xfrm>
            <a:off x="640080" y="361188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2960" y="3767328"/>
            <a:ext cx="566928" cy="438912"/>
          </a:xfrm>
          <a:prstGeom prst="roundRect">
            <a:avLst>
              <a:gd name="adj" fmla="val 14583"/>
            </a:avLst>
          </a:prstGeom>
          <a:solidFill>
            <a:srgbClr val="3A3355"/>
          </a:solidFill>
          <a:ln/>
        </p:spPr>
      </p:sp>
      <p:sp>
        <p:nvSpPr>
          <p:cNvPr id="27" name="Text 23"/>
          <p:cNvSpPr/>
          <p:nvPr/>
        </p:nvSpPr>
        <p:spPr>
          <a:xfrm>
            <a:off x="822960" y="381304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4">
            <a:hlinkClick r:id="rId5" tooltip="" action="ppaction://hlinksldjump"/>
          </p:cNvPr>
          <p:cNvSpPr/>
          <p:nvPr/>
        </p:nvSpPr>
        <p:spPr>
          <a:xfrm>
            <a:off x="1536192" y="37124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Сценарий и юмор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5166360" y="383133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с. 18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327648" y="3694176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D9D0C0"/>
          </a:solidFill>
          <a:ln/>
        </p:spPr>
      </p:sp>
      <p:sp>
        <p:nvSpPr>
          <p:cNvPr id="31" name="Shape 27"/>
          <p:cNvSpPr/>
          <p:nvPr/>
        </p:nvSpPr>
        <p:spPr>
          <a:xfrm>
            <a:off x="6245352" y="361188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428232" y="3767328"/>
            <a:ext cx="566928" cy="438912"/>
          </a:xfrm>
          <a:prstGeom prst="roundRect">
            <a:avLst>
              <a:gd name="adj" fmla="val 14583"/>
            </a:avLst>
          </a:prstGeom>
          <a:solidFill>
            <a:srgbClr val="3A3355"/>
          </a:solidFill>
          <a:ln/>
        </p:spPr>
      </p:sp>
      <p:sp>
        <p:nvSpPr>
          <p:cNvPr id="33" name="Text 29"/>
          <p:cNvSpPr/>
          <p:nvPr/>
        </p:nvSpPr>
        <p:spPr>
          <a:xfrm>
            <a:off x="6428232" y="381304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30">
            <a:hlinkClick r:id="rId6" tooltip="" action="ppaction://hlinksldjump"/>
          </p:cNvPr>
          <p:cNvSpPr/>
          <p:nvPr/>
        </p:nvSpPr>
        <p:spPr>
          <a:xfrm>
            <a:off x="7141464" y="37124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Ретеншн и бот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10771632" y="383133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с. 24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722376" y="4562856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D9D0C0"/>
          </a:solidFill>
          <a:ln/>
        </p:spPr>
      </p:sp>
      <p:sp>
        <p:nvSpPr>
          <p:cNvPr id="37" name="Shape 33"/>
          <p:cNvSpPr/>
          <p:nvPr/>
        </p:nvSpPr>
        <p:spPr>
          <a:xfrm>
            <a:off x="640080" y="448056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22960" y="4636008"/>
            <a:ext cx="566928" cy="438912"/>
          </a:xfrm>
          <a:prstGeom prst="roundRect">
            <a:avLst>
              <a:gd name="adj" fmla="val 14583"/>
            </a:avLst>
          </a:prstGeom>
          <a:solidFill>
            <a:srgbClr val="3A3355"/>
          </a:solidFill>
          <a:ln/>
        </p:spPr>
      </p:sp>
      <p:sp>
        <p:nvSpPr>
          <p:cNvPr id="39" name="Text 35"/>
          <p:cNvSpPr/>
          <p:nvPr/>
        </p:nvSpPr>
        <p:spPr>
          <a:xfrm>
            <a:off x="822960" y="468172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0" name="Text 36">
            <a:hlinkClick r:id="rId7" tooltip="" action="ppaction://hlinksldjump"/>
          </p:cNvPr>
          <p:cNvSpPr/>
          <p:nvPr/>
        </p:nvSpPr>
        <p:spPr>
          <a:xfrm>
            <a:off x="1536192" y="45811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Экономика</a:t>
            </a:r>
            <a:endParaRPr lang="en-US" sz="1600" dirty="0"/>
          </a:p>
        </p:txBody>
      </p:sp>
      <p:sp>
        <p:nvSpPr>
          <p:cNvPr id="41" name="Text 37"/>
          <p:cNvSpPr/>
          <p:nvPr/>
        </p:nvSpPr>
        <p:spPr>
          <a:xfrm>
            <a:off x="5166360" y="470001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с. 29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6327648" y="4562856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D9D0C0"/>
          </a:solidFill>
          <a:ln/>
        </p:spPr>
      </p:sp>
      <p:sp>
        <p:nvSpPr>
          <p:cNvPr id="43" name="Shape 39"/>
          <p:cNvSpPr/>
          <p:nvPr/>
        </p:nvSpPr>
        <p:spPr>
          <a:xfrm>
            <a:off x="6245352" y="448056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428232" y="4636008"/>
            <a:ext cx="566928" cy="438912"/>
          </a:xfrm>
          <a:prstGeom prst="roundRect">
            <a:avLst>
              <a:gd name="adj" fmla="val 14583"/>
            </a:avLst>
          </a:prstGeom>
          <a:solidFill>
            <a:srgbClr val="3A3355"/>
          </a:solidFill>
          <a:ln/>
        </p:spPr>
      </p:sp>
      <p:sp>
        <p:nvSpPr>
          <p:cNvPr id="45" name="Text 41"/>
          <p:cNvSpPr/>
          <p:nvPr/>
        </p:nvSpPr>
        <p:spPr>
          <a:xfrm>
            <a:off x="6428232" y="468172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6" name="Text 42">
            <a:hlinkClick r:id="rId8" tooltip="" action="ppaction://hlinksldjump"/>
          </p:cNvPr>
          <p:cNvSpPr/>
          <p:nvPr/>
        </p:nvSpPr>
        <p:spPr>
          <a:xfrm>
            <a:off x="7141464" y="45811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Продукт и продакшн</a:t>
            </a:r>
            <a:endParaRPr lang="en-US" sz="1600" dirty="0"/>
          </a:p>
        </p:txBody>
      </p:sp>
      <p:sp>
        <p:nvSpPr>
          <p:cNvPr id="47" name="Text 43"/>
          <p:cNvSpPr/>
          <p:nvPr/>
        </p:nvSpPr>
        <p:spPr>
          <a:xfrm>
            <a:off x="10771632" y="470001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с. 33</a:t>
            </a:r>
            <a:endParaRPr lang="en-US" sz="1300" dirty="0"/>
          </a:p>
        </p:txBody>
      </p:sp>
      <p:sp>
        <p:nvSpPr>
          <p:cNvPr id="48" name="Shape 44"/>
          <p:cNvSpPr/>
          <p:nvPr/>
        </p:nvSpPr>
        <p:spPr>
          <a:xfrm>
            <a:off x="722376" y="5431536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D9D0C0"/>
          </a:solidFill>
          <a:ln/>
        </p:spPr>
      </p:sp>
      <p:sp>
        <p:nvSpPr>
          <p:cNvPr id="49" name="Shape 45"/>
          <p:cNvSpPr/>
          <p:nvPr/>
        </p:nvSpPr>
        <p:spPr>
          <a:xfrm>
            <a:off x="640080" y="534924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822960" y="5504688"/>
            <a:ext cx="566928" cy="438912"/>
          </a:xfrm>
          <a:prstGeom prst="roundRect">
            <a:avLst>
              <a:gd name="adj" fmla="val 14583"/>
            </a:avLst>
          </a:prstGeom>
          <a:solidFill>
            <a:srgbClr val="3A3355"/>
          </a:solidFill>
          <a:ln/>
        </p:spPr>
      </p:sp>
      <p:sp>
        <p:nvSpPr>
          <p:cNvPr id="51" name="Text 47"/>
          <p:cNvSpPr/>
          <p:nvPr/>
        </p:nvSpPr>
        <p:spPr>
          <a:xfrm>
            <a:off x="822960" y="555040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2" name="Text 48">
            <a:hlinkClick r:id="rId9" tooltip="" action="ppaction://hlinksldjump"/>
          </p:cNvPr>
          <p:cNvSpPr/>
          <p:nvPr/>
        </p:nvSpPr>
        <p:spPr>
          <a:xfrm>
            <a:off x="1536192" y="54498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Запуск</a:t>
            </a:r>
            <a:endParaRPr lang="en-US" sz="1600" dirty="0"/>
          </a:p>
        </p:txBody>
      </p:sp>
      <p:sp>
        <p:nvSpPr>
          <p:cNvPr id="53" name="Text 49"/>
          <p:cNvSpPr/>
          <p:nvPr/>
        </p:nvSpPr>
        <p:spPr>
          <a:xfrm>
            <a:off x="5166360" y="556869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с. 42</a:t>
            </a:r>
            <a:endParaRPr lang="en-US" sz="1300" dirty="0"/>
          </a:p>
        </p:txBody>
      </p:sp>
      <p:sp>
        <p:nvSpPr>
          <p:cNvPr id="54" name="Shape 50"/>
          <p:cNvSpPr/>
          <p:nvPr/>
        </p:nvSpPr>
        <p:spPr>
          <a:xfrm>
            <a:off x="6327648" y="5431536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D9D0C0"/>
          </a:solidFill>
          <a:ln/>
        </p:spPr>
      </p:sp>
      <p:sp>
        <p:nvSpPr>
          <p:cNvPr id="55" name="Shape 51"/>
          <p:cNvSpPr/>
          <p:nvPr/>
        </p:nvSpPr>
        <p:spPr>
          <a:xfrm>
            <a:off x="6245352" y="534924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3A3355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6428232" y="5504688"/>
            <a:ext cx="566928" cy="438912"/>
          </a:xfrm>
          <a:prstGeom prst="roundRect">
            <a:avLst>
              <a:gd name="adj" fmla="val 14583"/>
            </a:avLst>
          </a:prstGeom>
          <a:solidFill>
            <a:srgbClr val="E8963C"/>
          </a:solidFill>
          <a:ln/>
        </p:spPr>
      </p:sp>
      <p:sp>
        <p:nvSpPr>
          <p:cNvPr id="57" name="Text 53"/>
          <p:cNvSpPr/>
          <p:nvPr/>
        </p:nvSpPr>
        <p:spPr>
          <a:xfrm>
            <a:off x="6428232" y="555040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Text 54">
            <a:hlinkClick r:id="rId10" tooltip="" action="ppaction://hlinksldjump"/>
          </p:cNvPr>
          <p:cNvSpPr/>
          <p:nvPr/>
        </p:nvSpPr>
        <p:spPr>
          <a:xfrm>
            <a:off x="7141464" y="54498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Решения от команды</a:t>
            </a:r>
            <a:endParaRPr lang="en-US" sz="1600" dirty="0"/>
          </a:p>
        </p:txBody>
      </p:sp>
      <p:sp>
        <p:nvSpPr>
          <p:cNvPr id="59" name="Text 55"/>
          <p:cNvSpPr/>
          <p:nvPr/>
        </p:nvSpPr>
        <p:spPr>
          <a:xfrm>
            <a:off x="10771632" y="556869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с. 47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251460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01 ИЗ 07</a:t>
            </a:r>
            <a:endParaRPr lang="en-US" sz="12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2468880" y="2286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Игра</a:t>
            </a:r>
            <a:endParaRPr lang="en-US" sz="4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2514600" y="34015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за игра, для кого она и почему в неё возвращаются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51460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4"/>
          <p:cNvSpPr/>
          <p:nvPr/>
        </p:nvSpPr>
        <p:spPr>
          <a:xfrm>
            <a:off x="333756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7" name="Shape 5"/>
          <p:cNvSpPr/>
          <p:nvPr/>
        </p:nvSpPr>
        <p:spPr>
          <a:xfrm>
            <a:off x="416052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8" name="Shape 6"/>
          <p:cNvSpPr/>
          <p:nvPr/>
        </p:nvSpPr>
        <p:spPr>
          <a:xfrm>
            <a:off x="498348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9" name="Shape 7"/>
          <p:cNvSpPr/>
          <p:nvPr/>
        </p:nvSpPr>
        <p:spPr>
          <a:xfrm>
            <a:off x="580644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1" name="Shape 9"/>
          <p:cNvSpPr/>
          <p:nvPr/>
        </p:nvSpPr>
        <p:spPr>
          <a:xfrm>
            <a:off x="745236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презентации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56" y="4288536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3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Лента гэгов вместо ухода по таймерам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продаём не заботу о питомце, а поток смешных ситуаций, которые хочется показать другим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Каждая точка прячет событие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Тап по предмету запускает гэг-анимацию. Посмотрел — предмет остался изменённым навсегда.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Комната копит историю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Следы «после кота» не убираются. Квартира превращается в музей его преступлений — и это виден прогресс.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Уход — ритм, а не цель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шкала настроения вместо пяти таймеров. Кот не умирает и не убегает: грусть — это контент, а не наказание.</a:t>
            </a:r>
            <a:endParaRPr lang="en-US" sz="1300" dirty="0"/>
          </a:p>
        </p:txBody>
      </p:sp>
      <p:sp>
        <p:nvSpPr>
          <p:cNvPr id="24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кота, две версии одной шутки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Игроку достаётся один. Характер решает, чем закончится событие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Батон — обжора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Живёт ради еды. Тяжёлый и медленный: ломает и продавливает. Прыгнул за рыбкой — оказался в аквариуме.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Шило — игрун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Живёт ради игры. Быстрый: прыжки, высота, сбитые предметы. Прыгнул за бантиком — снёс горшок с фикусом.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Восемь гэгов из десяти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MVP игрок видит исходы только своего кота: шесть общих и два характерных. Второго завести нельзя.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25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половина событий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нарисована и ждёт обновления, в котором второй кот заселяется в ту же комнату.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5_shkod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8"/>
          <p:cNvSpPr/>
          <p:nvPr>
            <p:ph idx="108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| ПЕРСОНАЖ</a:t>
            </a:r>
            <a:endParaRPr lang="en-US" sz="1100" dirty="0"/>
          </a:p>
        </p:txBody>
      </p:sp>
      <p:sp>
        <p:nvSpPr>
          <p:cNvPr id="10" name="Text 8"/>
          <p:cNvSpPr/>
          <p:nvPr>
            <p:ph idx="109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Персонаж: из чего рождаются события</a:t>
            </a:r>
            <a:endParaRPr lang="en-US" sz="3300" dirty="0"/>
          </a:p>
        </p:txBody>
      </p:sp>
      <p:sp>
        <p:nvSpPr>
          <p:cNvPr id="11" name="Text 8"/>
          <p:cNvSpPr/>
          <p:nvPr>
            <p:ph idx="110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 — не описание, а генератор: он превращает обычную квартиру в поток историй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41248" y="278892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89864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>
            <p:ph idx="111" type="body" hasCustomPrompt="1"/>
          </p:nvPr>
        </p:nvSpPr>
        <p:spPr>
          <a:xfrm>
            <a:off x="1463040" y="280720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Верит</a:t>
            </a:r>
            <a:endParaRPr lang="en-US" sz="1400" dirty="0"/>
          </a:p>
        </p:txBody>
      </p:sp>
      <p:sp>
        <p:nvSpPr>
          <p:cNvPr id="15" name="Text 8"/>
          <p:cNvSpPr/>
          <p:nvPr>
            <p:ph idx="112" type="body" hasCustomPrompt="1"/>
          </p:nvPr>
        </p:nvSpPr>
        <p:spPr>
          <a:xfrm>
            <a:off x="4480560" y="28072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«Мне никто не нужен — я справлюсь сам». Так решил, когда был один, и с тех пор не пересматривал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41248" y="348386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593592"/>
            <a:ext cx="219456" cy="219456"/>
          </a:xfrm>
          <a:prstGeom prst="rect">
            <a:avLst/>
          </a:prstGeom>
        </p:spPr>
      </p:pic>
      <p:sp>
        <p:nvSpPr>
          <p:cNvPr id="18" name="Text 8"/>
          <p:cNvSpPr/>
          <p:nvPr>
            <p:ph idx="113" type="body" hasCustomPrompt="1"/>
          </p:nvPr>
        </p:nvSpPr>
        <p:spPr>
          <a:xfrm>
            <a:off x="1463040" y="350215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</a:t>
            </a:r>
            <a:endParaRPr lang="en-US" sz="1400" dirty="0"/>
          </a:p>
        </p:txBody>
      </p:sp>
      <p:sp>
        <p:nvSpPr>
          <p:cNvPr id="19" name="Text 8"/>
          <p:cNvSpPr/>
          <p:nvPr>
            <p:ph idx="114" type="body" hasCustomPrompt="1"/>
          </p:nvPr>
        </p:nvSpPr>
        <p:spPr>
          <a:xfrm>
            <a:off x="4480560" y="3502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Развлекает себя сам и постоянно влипает. Каждая катастрофа — способ незаметно позвать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41248" y="417880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288536"/>
            <a:ext cx="219456" cy="219456"/>
          </a:xfrm>
          <a:prstGeom prst="rect">
            <a:avLst/>
          </a:prstGeom>
        </p:spPr>
      </p:pic>
      <p:sp>
        <p:nvSpPr>
          <p:cNvPr id="22" name="Text 8"/>
          <p:cNvSpPr/>
          <p:nvPr>
            <p:ph idx="115" type="body" hasCustomPrompt="1"/>
          </p:nvPr>
        </p:nvSpPr>
        <p:spPr>
          <a:xfrm>
            <a:off x="1463040" y="41970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Говорит</a:t>
            </a:r>
            <a:endParaRPr lang="en-US" sz="1400" dirty="0"/>
          </a:p>
        </p:txBody>
      </p:sp>
      <p:sp>
        <p:nvSpPr>
          <p:cNvPr id="23" name="Text 8"/>
          <p:cNvSpPr/>
          <p:nvPr>
            <p:ph idx="116" type="body" hasCustomPrompt="1"/>
          </p:nvPr>
        </p:nvSpPr>
        <p:spPr>
          <a:xfrm>
            <a:off x="4480560" y="419709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не грустил. Это пыль. Но заходи». Язвит, но никогда не упрекает и не просит прямо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41248" y="487375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983480"/>
            <a:ext cx="219456" cy="219456"/>
          </a:xfrm>
          <a:prstGeom prst="rect">
            <a:avLst/>
          </a:prstGeom>
        </p:spPr>
      </p:pic>
      <p:sp>
        <p:nvSpPr>
          <p:cNvPr id="26" name="Text 8"/>
          <p:cNvSpPr/>
          <p:nvPr>
            <p:ph idx="117" type="body" hasCustomPrompt="1"/>
          </p:nvPr>
        </p:nvSpPr>
        <p:spPr>
          <a:xfrm>
            <a:off x="1463040" y="48920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Никогда</a:t>
            </a:r>
            <a:endParaRPr lang="en-US" sz="1400" dirty="0"/>
          </a:p>
        </p:txBody>
      </p:sp>
      <p:sp>
        <p:nvSpPr>
          <p:cNvPr id="27" name="Text 8"/>
          <p:cNvSpPr/>
          <p:nvPr>
            <p:ph idx="118" type="body" hasCustomPrompt="1"/>
          </p:nvPr>
        </p:nvSpPr>
        <p:spPr>
          <a:xfrm>
            <a:off x="4480560" y="489204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страдает всерьёз и не признаёт промах. Третий бит гэга — подтверждение его правоты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40080" y="5504688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3A3355"/>
          </a:solidFill>
          <a:ln/>
        </p:spPr>
      </p:sp>
      <p:sp>
        <p:nvSpPr>
          <p:cNvPr id="29" name="Shape 21"/>
          <p:cNvSpPr/>
          <p:nvPr/>
        </p:nvSpPr>
        <p:spPr>
          <a:xfrm>
            <a:off x="841248" y="556869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E8963C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5678424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63040" y="55869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Петля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4480560" y="558698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Среда порождает катастрофу → кот поступает по-своему → остаётся след → изменённая среда даёт следующую</a:t>
            </a:r>
            <a:endParaRPr lang="en-US" sz="1300" dirty="0"/>
          </a:p>
        </p:txBody>
      </p:sp>
      <p:sp>
        <p:nvSpPr>
          <p:cNvPr id="33" name="Text 8"/>
          <p:cNvSpPr/>
          <p:nvPr>
            <p:ph idx="119" type="body" hasCustomPrompt="1"/>
          </p:nvPr>
        </p:nvSpPr>
        <p:spPr>
          <a:xfrm>
            <a:off x="1463040" y="55869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4" name="Text 8"/>
          <p:cNvSpPr/>
          <p:nvPr>
            <p:ph idx="120" type="body" hasCustomPrompt="1"/>
          </p:nvPr>
        </p:nvSpPr>
        <p:spPr>
          <a:xfrm>
            <a:off x="4480560" y="558698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4_dovol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ЦА: казуалы 18+, мобильный веб и Telegram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Играют между делом: короткие сессии, никакого давления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играет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Женщины 20–50 и мужчины 20–40. Любят несложные мобильные игры, мини-игры и новеллы.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играют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3–7 минут, три-четыре захода в неделю. Игра не должна требовать, чтобы о ней помнили.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играют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Мобильный веб и Telegram Mini App на одном коде. Вход в один клик, платежи Stars, там же живёт бот.</a:t>
            </a:r>
            <a:endParaRPr lang="en-US" sz="1300" dirty="0"/>
          </a:p>
        </p:txBody>
      </p:sp>
      <p:sp>
        <p:nvSpPr>
          <p:cNvPr id="24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4_dovol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8"/>
          <p:cNvSpPr/>
          <p:nvPr>
            <p:ph idx="108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</a:t>
            </a:r>
            <a:endParaRPr lang="en-US" sz="1100" dirty="0"/>
          </a:p>
        </p:txBody>
      </p:sp>
      <p:sp>
        <p:nvSpPr>
          <p:cNvPr id="10" name="Text 8"/>
          <p:cNvSpPr/>
          <p:nvPr>
            <p:ph idx="109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возвращаются каждый день</a:t>
            </a:r>
            <a:endParaRPr lang="en-US" sz="3300" dirty="0"/>
          </a:p>
        </p:txBody>
      </p:sp>
      <p:sp>
        <p:nvSpPr>
          <p:cNvPr id="11" name="Text 8"/>
          <p:cNvSpPr/>
          <p:nvPr>
            <p:ph idx="110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крючков, которые работают даже когда все анимации в комнате отсмотрены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724912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3A3355"/>
          </a:solidFill>
          <a:ln/>
        </p:spPr>
      </p:sp>
      <p:sp>
        <p:nvSpPr>
          <p:cNvPr id="13" name="Shape 9"/>
          <p:cNvSpPr/>
          <p:nvPr/>
        </p:nvSpPr>
        <p:spPr>
          <a:xfrm>
            <a:off x="841248" y="278892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E896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89864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280720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Комната растёт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480560" y="28072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Купленный предмет декора — не украшение, а новая точка интерактива с новым гэгом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41248" y="348386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593592"/>
            <a:ext cx="219456" cy="219456"/>
          </a:xfrm>
          <a:prstGeom prst="rect">
            <a:avLst/>
          </a:prstGeom>
        </p:spPr>
      </p:pic>
      <p:sp>
        <p:nvSpPr>
          <p:cNvPr id="19" name="Text 8"/>
          <p:cNvSpPr/>
          <p:nvPr>
            <p:ph idx="113" type="body" hasCustomPrompt="1"/>
          </p:nvPr>
        </p:nvSpPr>
        <p:spPr>
          <a:xfrm>
            <a:off x="1463040" y="350215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Дейлик «три предмета»</a:t>
            </a:r>
            <a:endParaRPr lang="en-US" sz="1400" dirty="0"/>
          </a:p>
        </p:txBody>
      </p:sp>
      <p:sp>
        <p:nvSpPr>
          <p:cNvPr id="20" name="Text 8"/>
          <p:cNvSpPr/>
          <p:nvPr>
            <p:ph idx="114" type="body" hasCustomPrompt="1"/>
          </p:nvPr>
        </p:nvSpPr>
        <p:spPr>
          <a:xfrm>
            <a:off x="4480560" y="3502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день новая мини-катастрофа, исход зависит от выбора игрока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41248" y="417880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288536"/>
            <a:ext cx="219456" cy="219456"/>
          </a:xfrm>
          <a:prstGeom prst="rect">
            <a:avLst/>
          </a:prstGeom>
        </p:spPr>
      </p:pic>
      <p:sp>
        <p:nvSpPr>
          <p:cNvPr id="23" name="Text 8"/>
          <p:cNvSpPr/>
          <p:nvPr>
            <p:ph idx="115" type="body" hasCustomPrompt="1"/>
          </p:nvPr>
        </p:nvSpPr>
        <p:spPr>
          <a:xfrm>
            <a:off x="1463040" y="41970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Мини-игра «Шкаф»</a:t>
            </a:r>
            <a:endParaRPr lang="en-US" sz="1400" dirty="0"/>
          </a:p>
        </p:txBody>
      </p:sp>
      <p:sp>
        <p:nvSpPr>
          <p:cNvPr id="24" name="Text 8"/>
          <p:cNvSpPr/>
          <p:nvPr>
            <p:ph idx="116" type="body" hasCustomPrompt="1"/>
          </p:nvPr>
        </p:nvSpPr>
        <p:spPr>
          <a:xfrm>
            <a:off x="4480560" y="419709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заход раз в день, раскладка полок меняется после каждого прохождения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41248" y="487375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983480"/>
            <a:ext cx="219456" cy="219456"/>
          </a:xfrm>
          <a:prstGeom prst="rect">
            <a:avLst/>
          </a:prstGeom>
        </p:spPr>
      </p:pic>
      <p:sp>
        <p:nvSpPr>
          <p:cNvPr id="27" name="Text 8"/>
          <p:cNvSpPr/>
          <p:nvPr>
            <p:ph idx="117" type="body" hasCustomPrompt="1"/>
          </p:nvPr>
        </p:nvSpPr>
        <p:spPr>
          <a:xfrm>
            <a:off x="1463040" y="48920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Ночные события</a:t>
            </a:r>
            <a:endParaRPr lang="en-US" sz="1400" dirty="0"/>
          </a:p>
        </p:txBody>
      </p:sp>
      <p:sp>
        <p:nvSpPr>
          <p:cNvPr id="28" name="Text 8"/>
          <p:cNvSpPr/>
          <p:nvPr>
            <p:ph idx="118" type="body" hasCustomPrompt="1"/>
          </p:nvPr>
        </p:nvSpPr>
        <p:spPr>
          <a:xfrm>
            <a:off x="4480560" y="489204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Утром в комнате есть то, чего вчера не было, — и бот об этом пишет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841248" y="556869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5678424"/>
            <a:ext cx="219456" cy="219456"/>
          </a:xfrm>
          <a:prstGeom prst="rect">
            <a:avLst/>
          </a:prstGeom>
        </p:spPr>
      </p:pic>
      <p:sp>
        <p:nvSpPr>
          <p:cNvPr id="31" name="Text 8"/>
          <p:cNvSpPr/>
          <p:nvPr>
            <p:ph idx="119" type="body" hasCustomPrompt="1"/>
          </p:nvPr>
        </p:nvSpPr>
        <p:spPr>
          <a:xfrm>
            <a:off x="1463040" y="55869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Настроение кота</a:t>
            </a:r>
            <a:endParaRPr lang="en-US" sz="1400" dirty="0"/>
          </a:p>
        </p:txBody>
      </p:sp>
      <p:sp>
        <p:nvSpPr>
          <p:cNvPr id="32" name="Text 8"/>
          <p:cNvSpPr/>
          <p:nvPr>
            <p:ph idx="120" type="body" hasCustomPrompt="1"/>
          </p:nvPr>
        </p:nvSpPr>
        <p:spPr>
          <a:xfrm>
            <a:off x="4480560" y="558698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Падает без визитов; встреча зависит от того, как давно вас не было</a:t>
            </a:r>
            <a:endParaRPr lang="en-US" sz="1300" dirty="0"/>
          </a:p>
        </p:txBody>
      </p:sp>
      <p:sp>
        <p:nvSpPr>
          <p:cNvPr id="33" name="Text 8"/>
          <p:cNvSpPr/>
          <p:nvPr>
            <p:ph idx="111" type="body" hasCustomPrompt="1"/>
          </p:nvPr>
        </p:nvSpPr>
        <p:spPr>
          <a:xfrm>
            <a:off x="1463040" y="280720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4" name="Text 8"/>
          <p:cNvSpPr/>
          <p:nvPr>
            <p:ph idx="112" type="body" hasCustomPrompt="1"/>
          </p:nvPr>
        </p:nvSpPr>
        <p:spPr>
          <a:xfrm>
            <a:off x="4480560" y="28072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2_ploh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>
            <p:ph idx="106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</a:t>
            </a:r>
            <a:endParaRPr lang="en-US" sz="1100" dirty="0"/>
          </a:p>
        </p:txBody>
      </p:sp>
      <p:sp>
        <p:nvSpPr>
          <p:cNvPr id="10" name="Text 6"/>
          <p:cNvSpPr/>
          <p:nvPr>
            <p:ph idx="107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звучит</a:t>
            </a:r>
            <a:endParaRPr lang="en-US" sz="3300" dirty="0"/>
          </a:p>
        </p:txBody>
      </p:sp>
      <p:pic>
        <p:nvPicPr>
          <p:cNvPr id="11" name="Image 2" descr="mood_2_ploho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868680" cy="868680"/>
          </a:xfrm>
          <a:prstGeom prst="rect">
            <a:avLst/>
          </a:prstGeom>
        </p:spPr>
      </p:pic>
      <p:sp>
        <p:nvSpPr>
          <p:cNvPr id="12" name="Text 6"/>
          <p:cNvSpPr/>
          <p:nvPr>
            <p:ph idx="109" type="body" hasCustomPrompt="1"/>
          </p:nvPr>
        </p:nvSpPr>
        <p:spPr>
          <a:xfrm>
            <a:off x="2514600" y="2999232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«Я не грустил. Это пыль. Но заходи»</a:t>
            </a:r>
            <a:endParaRPr lang="en-US" sz="3000" dirty="0"/>
          </a:p>
        </p:txBody>
      </p:sp>
      <p:sp>
        <p:nvSpPr>
          <p:cNvPr id="13" name="Text 6"/>
          <p:cNvSpPr/>
          <p:nvPr>
            <p:ph idx="110" type="body" hasCustomPrompt="1"/>
          </p:nvPr>
        </p:nvSpPr>
        <p:spPr>
          <a:xfrm>
            <a:off x="2542032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утреннее сообщение бота · голос кота</a:t>
            </a:r>
            <a:endParaRPr lang="en-US" sz="1400" dirty="0"/>
          </a:p>
        </p:txBody>
      </p:sp>
      <p:sp>
        <p:nvSpPr>
          <p:cNvPr id="14" name="Text 6"/>
          <p:cNvSpPr/>
          <p:nvPr>
            <p:ph idx="111" type="body" hasCustomPrompt="1"/>
          </p:nvPr>
        </p:nvSpPr>
        <p:spPr>
          <a:xfrm>
            <a:off x="96012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пишет короткими фразами: непрошибаемая самоуверенность, лёгкая пассивная агрессия и любовь между строк.</a:t>
            </a:r>
            <a:endParaRPr lang="en-US" sz="1400" dirty="0"/>
          </a:p>
        </p:txBody>
      </p:sp>
      <p:sp>
        <p:nvSpPr>
          <p:cNvPr id="15" name="Text 6"/>
          <p:cNvSpPr/>
          <p:nvPr>
            <p:ph idx="108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251460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02 ИЗ 07</a:t>
            </a:r>
            <a:endParaRPr lang="en-US" sz="12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2468880" y="2286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Геймплей</a:t>
            </a:r>
            <a:endParaRPr lang="en-US" sz="4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2514600" y="34015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первого экрана до ежедневного ритуала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51460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4"/>
          <p:cNvSpPr/>
          <p:nvPr/>
        </p:nvSpPr>
        <p:spPr>
          <a:xfrm>
            <a:off x="333756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5"/>
          <p:cNvSpPr/>
          <p:nvPr/>
        </p:nvSpPr>
        <p:spPr>
          <a:xfrm>
            <a:off x="416052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8" name="Shape 6"/>
          <p:cNvSpPr/>
          <p:nvPr/>
        </p:nvSpPr>
        <p:spPr>
          <a:xfrm>
            <a:off x="498348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9" name="Shape 7"/>
          <p:cNvSpPr/>
          <p:nvPr/>
        </p:nvSpPr>
        <p:spPr>
          <a:xfrm>
            <a:off x="580644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1" name="Shape 9"/>
          <p:cNvSpPr/>
          <p:nvPr/>
        </p:nvSpPr>
        <p:spPr>
          <a:xfrm>
            <a:off x="745236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презентации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56" y="4288536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3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2_ploh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ГЕЙМПЛЕЙ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Выбор без права передумать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начинается не с обучения, а с решения</a:t>
            </a:r>
            <a:endParaRPr lang="en-US" sz="1500" dirty="0"/>
          </a:p>
        </p:txBody>
      </p:sp>
      <p:pic>
        <p:nvPicPr>
          <p:cNvPr id="12" name="Image 2" descr="street_choice_conce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839987"/>
            <a:ext cx="2066544" cy="3098267"/>
          </a:xfrm>
          <a:prstGeom prst="rect">
            <a:avLst/>
          </a:prstGeom>
        </p:spPr>
      </p:pic>
      <p:sp>
        <p:nvSpPr>
          <p:cNvPr id="13" name="Text 9"/>
          <p:cNvSpPr/>
          <p:nvPr>
            <p:ph idx="113" type="body" hasCustomPrompt="1"/>
          </p:nvPr>
        </p:nvSpPr>
        <p:spPr>
          <a:xfrm>
            <a:off x="379476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укрытия</a:t>
            </a:r>
            <a:endParaRPr lang="en-US" sz="1350" dirty="0"/>
          </a:p>
        </p:txBody>
      </p:sp>
      <p:sp>
        <p:nvSpPr>
          <p:cNvPr id="14" name="Text 9"/>
          <p:cNvSpPr/>
          <p:nvPr>
            <p:ph idx="114" type="body" hasCustomPrompt="1"/>
          </p:nvPr>
        </p:nvSpPr>
        <p:spPr>
          <a:xfrm>
            <a:off x="3794760" y="3044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Ночная улица, коробка и ливнёвка. Из темноты видны только глаза — кто там, игрок не знает</a:t>
            </a:r>
            <a:endParaRPr lang="en-US" sz="1200" dirty="0"/>
          </a:p>
        </p:txBody>
      </p:sp>
      <p:sp>
        <p:nvSpPr>
          <p:cNvPr id="15" name="Text 9"/>
          <p:cNvSpPr/>
          <p:nvPr>
            <p:ph idx="115" type="body" hasCustomPrompt="1"/>
          </p:nvPr>
        </p:nvSpPr>
        <p:spPr>
          <a:xfrm>
            <a:off x="3794760" y="3685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Тревожный свет</a:t>
            </a:r>
            <a:endParaRPr lang="en-US" sz="1350" dirty="0"/>
          </a:p>
        </p:txBody>
      </p:sp>
      <p:sp>
        <p:nvSpPr>
          <p:cNvPr id="16" name="Text 9"/>
          <p:cNvSpPr/>
          <p:nvPr>
            <p:ph idx="116" type="body" hasCustomPrompt="1"/>
          </p:nvPr>
        </p:nvSpPr>
        <p:spPr>
          <a:xfrm>
            <a:off x="3794760" y="39410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Фонари мигают по очереди, коты зыркают из темноты. Выбор нужно сделать, изменить его нельзя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520440" y="4489704"/>
            <a:ext cx="8028432" cy="768096"/>
          </a:xfrm>
          <a:prstGeom prst="roundRect">
            <a:avLst>
              <a:gd name="adj" fmla="val 9524"/>
            </a:avLst>
          </a:prstGeom>
          <a:solidFill>
            <a:srgbClr val="3A3355"/>
          </a:solidFill>
          <a:ln/>
        </p:spPr>
      </p:sp>
      <p:sp>
        <p:nvSpPr>
          <p:cNvPr id="18" name="Text 13"/>
          <p:cNvSpPr/>
          <p:nvPr/>
        </p:nvSpPr>
        <p:spPr>
          <a:xfrm>
            <a:off x="3794760" y="45811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так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3794760" y="48371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Механически это тот же рандом, но игрок «выбрал сам» — и привязывается сильнее</a:t>
            </a:r>
            <a:endParaRPr lang="en-US" sz="1200" dirty="0"/>
          </a:p>
        </p:txBody>
      </p:sp>
      <p:sp>
        <p:nvSpPr>
          <p:cNvPr id="20" name="Text 9"/>
          <p:cNvSpPr/>
          <p:nvPr>
            <p:ph idx="119" type="body" hasCustomPrompt="1"/>
          </p:nvPr>
        </p:nvSpPr>
        <p:spPr>
          <a:xfrm>
            <a:off x="3794760" y="54772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остаётся</a:t>
            </a:r>
            <a:endParaRPr lang="en-US" sz="1350" dirty="0"/>
          </a:p>
        </p:txBody>
      </p:sp>
      <p:sp>
        <p:nvSpPr>
          <p:cNvPr id="21" name="Text 9"/>
          <p:cNvSpPr/>
          <p:nvPr>
            <p:ph idx="120" type="body" hasCustomPrompt="1"/>
          </p:nvPr>
        </p:nvSpPr>
        <p:spPr>
          <a:xfrm>
            <a:off x="3794760" y="57332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Игрок запоминает, что котов было два. Это крючок на обновление</a:t>
            </a:r>
            <a:endParaRPr lang="en-US" sz="1200" dirty="0"/>
          </a:p>
        </p:txBody>
      </p:sp>
      <p:sp>
        <p:nvSpPr>
          <p:cNvPr id="22" name="Text 9"/>
          <p:cNvSpPr/>
          <p:nvPr>
            <p:ph idx="112" hasCustomPrompt="1"/>
          </p:nvPr>
        </p:nvSpPr>
        <p:spPr>
          <a:xfrm>
            <a:off x="749808" y="2807208"/>
            <a:ext cx="2066544" cy="316382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3794760" y="45811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24" name="Text 9"/>
          <p:cNvSpPr/>
          <p:nvPr>
            <p:ph idx="118" type="body" hasCustomPrompt="1"/>
          </p:nvPr>
        </p:nvSpPr>
        <p:spPr>
          <a:xfrm>
            <a:off x="3794760" y="48371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3"/>
          <p:cNvSpPr/>
          <p:nvPr>
            <p:ph idx="103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ГЕЙМПЛЕЙ</a:t>
            </a:r>
            <a:endParaRPr lang="en-US" sz="1100" dirty="0"/>
          </a:p>
        </p:txBody>
      </p:sp>
      <p:sp>
        <p:nvSpPr>
          <p:cNvPr id="10" name="Text 3"/>
          <p:cNvSpPr/>
          <p:nvPr>
            <p:ph idx="104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сессия и цикл возврата</a:t>
            </a:r>
            <a:endParaRPr lang="en-US" sz="3300" dirty="0"/>
          </a:p>
        </p:txBody>
      </p:sp>
      <p:sp>
        <p:nvSpPr>
          <p:cNvPr id="11" name="Text 3"/>
          <p:cNvSpPr/>
          <p:nvPr>
            <p:ph idx="105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 — это сама игра, без единого туториального экрана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31520" y="2834640"/>
            <a:ext cx="2020824" cy="1600200"/>
          </a:xfrm>
          <a:prstGeom prst="roundRect">
            <a:avLst>
              <a:gd name="adj" fmla="val 5714"/>
            </a:avLst>
          </a:prstGeom>
          <a:solidFill>
            <a:srgbClr val="D9D0C0"/>
          </a:solidFill>
          <a:ln/>
        </p:spPr>
      </p:sp>
      <p:sp>
        <p:nvSpPr>
          <p:cNvPr id="13" name="Shape 9"/>
          <p:cNvSpPr/>
          <p:nvPr/>
        </p:nvSpPr>
        <p:spPr>
          <a:xfrm>
            <a:off x="640080" y="2743200"/>
            <a:ext cx="2020824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1248" y="28529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41248" y="3364992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Мини-сюжетка и выбор кота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2953512" y="2834640"/>
            <a:ext cx="2020824" cy="1600200"/>
          </a:xfrm>
          <a:prstGeom prst="roundRect">
            <a:avLst>
              <a:gd name="adj" fmla="val 5714"/>
            </a:avLst>
          </a:prstGeom>
          <a:solidFill>
            <a:srgbClr val="D9D0C0"/>
          </a:solidFill>
          <a:ln/>
        </p:spPr>
      </p:sp>
      <p:sp>
        <p:nvSpPr>
          <p:cNvPr id="17" name="Shape 13"/>
          <p:cNvSpPr/>
          <p:nvPr/>
        </p:nvSpPr>
        <p:spPr>
          <a:xfrm>
            <a:off x="2862072" y="2743200"/>
            <a:ext cx="2020824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063240" y="28529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063240" y="3364992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Темнота: можно только погладить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175504" y="2834640"/>
            <a:ext cx="2020824" cy="1600200"/>
          </a:xfrm>
          <a:prstGeom prst="roundRect">
            <a:avLst>
              <a:gd name="adj" fmla="val 5714"/>
            </a:avLst>
          </a:prstGeom>
          <a:solidFill>
            <a:srgbClr val="D9D0C0"/>
          </a:solidFill>
          <a:ln/>
        </p:spPr>
      </p:sp>
      <p:sp>
        <p:nvSpPr>
          <p:cNvPr id="21" name="Shape 17"/>
          <p:cNvSpPr/>
          <p:nvPr/>
        </p:nvSpPr>
        <p:spPr>
          <a:xfrm>
            <a:off x="5084064" y="2743200"/>
            <a:ext cx="2020824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285232" y="28529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5285232" y="3364992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Учимся ходить — свет идёт за котом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397496" y="2834640"/>
            <a:ext cx="2020824" cy="1600200"/>
          </a:xfrm>
          <a:prstGeom prst="roundRect">
            <a:avLst>
              <a:gd name="adj" fmla="val 5714"/>
            </a:avLst>
          </a:prstGeom>
          <a:solidFill>
            <a:srgbClr val="D9D0C0"/>
          </a:solidFill>
          <a:ln/>
        </p:spPr>
      </p:sp>
      <p:sp>
        <p:nvSpPr>
          <p:cNvPr id="25" name="Shape 21"/>
          <p:cNvSpPr/>
          <p:nvPr/>
        </p:nvSpPr>
        <p:spPr>
          <a:xfrm>
            <a:off x="7306056" y="2743200"/>
            <a:ext cx="2020824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507224" y="28529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7507224" y="3364992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Появляется игрушка: учимся прыгать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9619488" y="2834640"/>
            <a:ext cx="2020824" cy="1600200"/>
          </a:xfrm>
          <a:prstGeom prst="roundRect">
            <a:avLst>
              <a:gd name="adj" fmla="val 5714"/>
            </a:avLst>
          </a:prstGeom>
          <a:solidFill>
            <a:srgbClr val="D9D0C0"/>
          </a:solidFill>
          <a:ln/>
        </p:spPr>
      </p:sp>
      <p:sp>
        <p:nvSpPr>
          <p:cNvPr id="29" name="Shape 25"/>
          <p:cNvSpPr/>
          <p:nvPr/>
        </p:nvSpPr>
        <p:spPr>
          <a:xfrm>
            <a:off x="9528048" y="2743200"/>
            <a:ext cx="2020824" cy="1600200"/>
          </a:xfrm>
          <a:prstGeom prst="roundRect">
            <a:avLst>
              <a:gd name="adj" fmla="val 5714"/>
            </a:avLst>
          </a:prstGeom>
          <a:solidFill>
            <a:srgbClr val="3A3355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9729216" y="28529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7"/>
          <p:cNvSpPr/>
          <p:nvPr/>
        </p:nvSpPr>
        <p:spPr>
          <a:xfrm>
            <a:off x="9729216" y="3364992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Прыжок в темноте → первый гэг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45262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гэг — за 60–90 секунд от входа в тёмную комнату</a:t>
            </a:r>
            <a:endParaRPr lang="en-US" sz="1450" dirty="0"/>
          </a:p>
        </p:txBody>
      </p:sp>
      <p:sp>
        <p:nvSpPr>
          <p:cNvPr id="33" name="Shape 29"/>
          <p:cNvSpPr/>
          <p:nvPr/>
        </p:nvSpPr>
        <p:spPr>
          <a:xfrm>
            <a:off x="640080" y="493776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32688" y="504748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 сессии 3–7 минут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932688" y="53492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зашёл → кот встречает по настроению → погладил и покормил → открыл одну-две новые точки → сыграл в «Шкаф» → купил предмет → предмет добавил новую точку → вышел с поводом вернуться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4_dovol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ГЕЙМПЛЕЙ | БАЗА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Комната: гэги и следы «после кота»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Восемь-двенадцать базовых точек, до восемнадцати с покупным декором</a:t>
            </a:r>
            <a:endParaRPr lang="en-US" sz="1500" dirty="0"/>
          </a:p>
        </p:txBody>
      </p:sp>
      <p:pic>
        <p:nvPicPr>
          <p:cNvPr id="12" name="Image 2" descr="room_conce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64" y="2807208"/>
            <a:ext cx="1781233" cy="3163824"/>
          </a:xfrm>
          <a:prstGeom prst="rect">
            <a:avLst/>
          </a:prstGeom>
        </p:spPr>
      </p:pic>
      <p:sp>
        <p:nvSpPr>
          <p:cNvPr id="13" name="Text 9"/>
          <p:cNvSpPr/>
          <p:nvPr>
            <p:ph idx="113" type="body" hasCustomPrompt="1"/>
          </p:nvPr>
        </p:nvSpPr>
        <p:spPr>
          <a:xfrm>
            <a:off x="379476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Комната — сетка слотов</a:t>
            </a:r>
            <a:endParaRPr lang="en-US" sz="1350" dirty="0"/>
          </a:p>
        </p:txBody>
      </p:sp>
      <p:sp>
        <p:nvSpPr>
          <p:cNvPr id="14" name="Text 9"/>
          <p:cNvSpPr/>
          <p:nvPr>
            <p:ph idx="114" type="body" hasCustomPrompt="1"/>
          </p:nvPr>
        </p:nvSpPr>
        <p:spPr>
          <a:xfrm>
            <a:off x="3794760" y="3044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Тап по предмету или подведение кота запускает событие; предмет меняется навсегда</a:t>
            </a:r>
            <a:endParaRPr lang="en-US" sz="1200" dirty="0"/>
          </a:p>
        </p:txBody>
      </p:sp>
      <p:sp>
        <p:nvSpPr>
          <p:cNvPr id="15" name="Text 9"/>
          <p:cNvSpPr/>
          <p:nvPr>
            <p:ph idx="115" type="body" hasCustomPrompt="1"/>
          </p:nvPr>
        </p:nvSpPr>
        <p:spPr>
          <a:xfrm>
            <a:off x="3794760" y="3685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Свободные слоты видны как пустота</a:t>
            </a:r>
            <a:endParaRPr lang="en-US" sz="1350" dirty="0"/>
          </a:p>
        </p:txBody>
      </p:sp>
      <p:sp>
        <p:nvSpPr>
          <p:cNvPr id="16" name="Text 9"/>
          <p:cNvSpPr/>
          <p:nvPr>
            <p:ph idx="116" type="body" hasCustomPrompt="1"/>
          </p:nvPr>
        </p:nvSpPr>
        <p:spPr>
          <a:xfrm>
            <a:off x="3794760" y="39410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Светлый след от снятой картины, пустой крюк. Темнота — только в онбординге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520440" y="4489704"/>
            <a:ext cx="8028432" cy="768096"/>
          </a:xfrm>
          <a:prstGeom prst="roundRect">
            <a:avLst>
              <a:gd name="adj" fmla="val 9524"/>
            </a:avLst>
          </a:prstGeom>
          <a:solidFill>
            <a:srgbClr val="3A3355"/>
          </a:solidFill>
          <a:ln/>
        </p:spPr>
      </p:sp>
      <p:sp>
        <p:nvSpPr>
          <p:cNvPr id="18" name="Text 13"/>
          <p:cNvSpPr/>
          <p:nvPr/>
        </p:nvSpPr>
        <p:spPr>
          <a:xfrm>
            <a:off x="3794760" y="45811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Комбинаторика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3794760" y="48371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Настроение меняет исход, пары предметов дают третий гэг — вариативность без нового арта</a:t>
            </a:r>
            <a:endParaRPr lang="en-US" sz="1200" dirty="0"/>
          </a:p>
        </p:txBody>
      </p:sp>
      <p:sp>
        <p:nvSpPr>
          <p:cNvPr id="20" name="Text 9"/>
          <p:cNvSpPr/>
          <p:nvPr>
            <p:ph idx="119" type="body" hasCustomPrompt="1"/>
          </p:nvPr>
        </p:nvSpPr>
        <p:spPr>
          <a:xfrm>
            <a:off x="3794760" y="54772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суток</a:t>
            </a:r>
            <a:endParaRPr lang="en-US" sz="1350" dirty="0"/>
          </a:p>
        </p:txBody>
      </p:sp>
      <p:sp>
        <p:nvSpPr>
          <p:cNvPr id="21" name="Text 9"/>
          <p:cNvSpPr/>
          <p:nvPr>
            <p:ph idx="120" type="body" hasCustomPrompt="1"/>
          </p:nvPr>
        </p:nvSpPr>
        <p:spPr>
          <a:xfrm>
            <a:off x="3794760" y="57332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Утро, день, вечер, ночь меняют свет и пул доступных событий</a:t>
            </a:r>
            <a:endParaRPr lang="en-US" sz="1200" dirty="0"/>
          </a:p>
        </p:txBody>
      </p:sp>
      <p:sp>
        <p:nvSpPr>
          <p:cNvPr id="22" name="Text 9"/>
          <p:cNvSpPr/>
          <p:nvPr>
            <p:ph idx="112" hasCustomPrompt="1"/>
          </p:nvPr>
        </p:nvSpPr>
        <p:spPr>
          <a:xfrm>
            <a:off x="749808" y="2807208"/>
            <a:ext cx="2066544" cy="316382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3794760" y="45811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24" name="Text 9"/>
          <p:cNvSpPr/>
          <p:nvPr>
            <p:ph idx="118" type="body" hasCustomPrompt="1"/>
          </p:nvPr>
        </p:nvSpPr>
        <p:spPr>
          <a:xfrm>
            <a:off x="3794760" y="48371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ГЕЙМПЛЕЙ | БАЗА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Пары предметов: игрок сам собирает шутку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Механика, которая даёт новый контент без нового арта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Слоты и расстановка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Комната разбита на слоты. Купленный предмет встаёт в свободный, и его можно перетащить в другой.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Скрытые теги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предмета один-два тега: высокое, жидкость, мягкое, электрическое, растение, катится.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Соседство даёт связку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предмета рядом открывают третье событие. Между ними вспыхивает двойная лапка — подсказок в тексте нет.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25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Связки нельзя купить — только собрать.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Десять предметов дают до 45 пар; реализуем 12–15. Магазин превращается в конструктор.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ГЕЙМПЛЕЙ | МИНИ-ИГРЫ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«Три предмета»: кот помогает с уборкой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день в комнате назревает катастрофа — и кот искренне пытается помочь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работает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предмета на выбор. Один спасает и даёт полную награду, два делают беспорядок ещё больше — и ещё смешнее.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Проигрыша нет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«Неправильный» выбор — не наказание, а бонусная анимация. Есть два вида веселья.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Лимиты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заход раз в день, дальше попытки за рыбки с растущей ценой. Заходы не копятся.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25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именно ломается.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Катастрофа — временный слой, к утру исчезает сам и никогда не стирает постоянные следы «после кота».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5_shkod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ГЕЙМПЛЕЙ | МИНИ-ИГРЫ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Мини-игра «Шкаф»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Слингшот-прыжки по полкам: оттянул кота, отпустил, полетел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Одним пальцем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и сила оттяжки задают вектор прыжка. Прыгаем с полки на полку вверх, собираем рыбки.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Промах — тоже гэг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Провалился в коробку с обувью, торчит хвост. Повис на вешалке. Нырнул в свитер и вылез из рукава.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Каждый раз иначе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Раскладка полок меняется по пулу из восьми-десяти паттернов — без роста сложности.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25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глубине шкафа темно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и иногда там моргают чьи-то глаза. Утром бот напишет: «Я был в шкафу. Там всё сложно. Не открывай пока».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5_shkod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3"/>
          <p:cNvSpPr/>
          <p:nvPr>
            <p:ph idx="103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ГЕЙМПЛЕЙ | ПЕРСОНАЖ</a:t>
            </a:r>
            <a:endParaRPr lang="en-US" sz="1100" dirty="0"/>
          </a:p>
        </p:txBody>
      </p:sp>
      <p:sp>
        <p:nvSpPr>
          <p:cNvPr id="10" name="Text 3"/>
          <p:cNvSpPr/>
          <p:nvPr>
            <p:ph idx="104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Настроение: пять состояний одной морды</a:t>
            </a:r>
            <a:endParaRPr lang="en-US" sz="3300" dirty="0"/>
          </a:p>
        </p:txBody>
      </p:sp>
      <p:sp>
        <p:nvSpPr>
          <p:cNvPr id="11" name="Text 3"/>
          <p:cNvSpPr/>
          <p:nvPr>
            <p:ph idx="105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Расстроен · плохое · покерфейс · довольное · шкодное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253996" y="2816352"/>
            <a:ext cx="7863840" cy="1255803"/>
          </a:xfrm>
          <a:prstGeom prst="roundRect">
            <a:avLst>
              <a:gd name="adj" fmla="val 5825"/>
            </a:avLst>
          </a:prstGeom>
          <a:solidFill>
            <a:srgbClr val="D9D0C0"/>
          </a:solidFill>
          <a:ln/>
        </p:spPr>
      </p:sp>
      <p:pic>
        <p:nvPicPr>
          <p:cNvPr id="13" name="Image 2" descr="mood_fac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556" y="2724912"/>
            <a:ext cx="7863840" cy="1255803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0080" y="416052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41248" y="422452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334256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2428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Суточный цикл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572000" y="4242816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Утром сброс до 1/5. После ритуала 3–4/5. Двойка — «ещё чуть и загрущу», достигается только падением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4818888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41248" y="488289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9926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49011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за вечерний заход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572000" y="490118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Заходил вечером — утро начинается не с единицы, а с двойки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40080" y="5477256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3A3355"/>
          </a:solidFill>
          <a:ln w="12700">
            <a:solidFill>
              <a:srgbClr val="3A3355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41248" y="554126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E8963C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565099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463040" y="555955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Настроение ведёт кота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572000" y="555955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пятёрке шалит от избытка сил, на единице лезет на стеллаж от тоски. Игрок читает состояние без подсказок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251460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03 ИЗ 07</a:t>
            </a:r>
            <a:endParaRPr lang="en-US" sz="12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2468880" y="2286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Сценарий и юмор</a:t>
            </a:r>
            <a:endParaRPr lang="en-US" sz="4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2514600" y="34015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именно мы смешим и где проходит граница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51460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4"/>
          <p:cNvSpPr/>
          <p:nvPr/>
        </p:nvSpPr>
        <p:spPr>
          <a:xfrm>
            <a:off x="333756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5"/>
          <p:cNvSpPr/>
          <p:nvPr/>
        </p:nvSpPr>
        <p:spPr>
          <a:xfrm>
            <a:off x="416052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8" name="Shape 6"/>
          <p:cNvSpPr/>
          <p:nvPr/>
        </p:nvSpPr>
        <p:spPr>
          <a:xfrm>
            <a:off x="498348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9" name="Shape 7"/>
          <p:cNvSpPr/>
          <p:nvPr/>
        </p:nvSpPr>
        <p:spPr>
          <a:xfrm>
            <a:off x="580644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1" name="Shape 9"/>
          <p:cNvSpPr/>
          <p:nvPr/>
        </p:nvSpPr>
        <p:spPr>
          <a:xfrm>
            <a:off x="745236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презентации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56" y="4288536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3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5_shkod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3"/>
          <p:cNvSpPr/>
          <p:nvPr>
            <p:ph idx="103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100" dirty="0"/>
          </a:p>
        </p:txBody>
      </p:sp>
      <p:sp>
        <p:nvSpPr>
          <p:cNvPr id="10" name="Text 3"/>
          <p:cNvSpPr/>
          <p:nvPr>
            <p:ph idx="104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юмора: тьма без жестокости</a:t>
            </a:r>
            <a:endParaRPr lang="en-US" sz="3300" dirty="0"/>
          </a:p>
        </p:txBody>
      </p:sp>
      <p:sp>
        <p:nvSpPr>
          <p:cNvPr id="11" name="Text 3"/>
          <p:cNvSpPr/>
          <p:nvPr>
            <p:ph idx="105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принципов, по которым пишется каждый гэг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31520" y="2788920"/>
            <a:ext cx="5303520" cy="859536"/>
          </a:xfrm>
          <a:prstGeom prst="roundRect">
            <a:avLst>
              <a:gd name="adj" fmla="val 8511"/>
            </a:avLst>
          </a:prstGeom>
          <a:solidFill>
            <a:srgbClr val="D9D0C0"/>
          </a:solidFill>
          <a:ln/>
        </p:spPr>
      </p:sp>
      <p:sp>
        <p:nvSpPr>
          <p:cNvPr id="13" name="Shape 9"/>
          <p:cNvSpPr/>
          <p:nvPr/>
        </p:nvSpPr>
        <p:spPr>
          <a:xfrm>
            <a:off x="640080" y="2697480"/>
            <a:ext cx="53035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1248" y="2953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371600" y="28072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и люди не страдают всерьёз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371600" y="3063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Любая «боль» — один кадр звёздочек. Шутим над вещами и бытом, никогда — над живыми.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36792" y="2788920"/>
            <a:ext cx="5303520" cy="859536"/>
          </a:xfrm>
          <a:prstGeom prst="roundRect">
            <a:avLst>
              <a:gd name="adj" fmla="val 8511"/>
            </a:avLst>
          </a:prstGeom>
          <a:solidFill>
            <a:srgbClr val="D9D0C0"/>
          </a:solidFill>
          <a:ln/>
        </p:spPr>
      </p:sp>
      <p:sp>
        <p:nvSpPr>
          <p:cNvPr id="18" name="Shape 14"/>
          <p:cNvSpPr/>
          <p:nvPr/>
        </p:nvSpPr>
        <p:spPr>
          <a:xfrm>
            <a:off x="6245352" y="2697480"/>
            <a:ext cx="53035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46520" y="2953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6976872" y="28072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Несоразмерное спокойствие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976872" y="3063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больше катастрофа, тем невозмутимее кот. Комизм из контраста, а не из суеты.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731520" y="3758184"/>
            <a:ext cx="5303520" cy="859536"/>
          </a:xfrm>
          <a:prstGeom prst="roundRect">
            <a:avLst>
              <a:gd name="adj" fmla="val 8511"/>
            </a:avLst>
          </a:prstGeom>
          <a:solidFill>
            <a:srgbClr val="D9D0C0"/>
          </a:solidFill>
          <a:ln/>
        </p:spPr>
      </p:sp>
      <p:sp>
        <p:nvSpPr>
          <p:cNvPr id="23" name="Shape 19"/>
          <p:cNvSpPr/>
          <p:nvPr/>
        </p:nvSpPr>
        <p:spPr>
          <a:xfrm>
            <a:off x="640080" y="3666744"/>
            <a:ext cx="53035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41248" y="3922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1371600" y="37764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бита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1371600" y="40325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Ожидание, поворот и добивка через паузу — когда игрок решил, что гэг закончился.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336792" y="3758184"/>
            <a:ext cx="5303520" cy="859536"/>
          </a:xfrm>
          <a:prstGeom prst="roundRect">
            <a:avLst>
              <a:gd name="adj" fmla="val 8511"/>
            </a:avLst>
          </a:prstGeom>
          <a:solidFill>
            <a:srgbClr val="D9D0C0"/>
          </a:solidFill>
          <a:ln/>
        </p:spPr>
      </p:sp>
      <p:sp>
        <p:nvSpPr>
          <p:cNvPr id="28" name="Shape 24"/>
          <p:cNvSpPr/>
          <p:nvPr/>
        </p:nvSpPr>
        <p:spPr>
          <a:xfrm>
            <a:off x="6245352" y="3666744"/>
            <a:ext cx="53035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46520" y="3922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6976872" y="37764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Смеёмся над своим бытом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6976872" y="40325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Диван, робот-пылесос, созвоны, умный дом. Игрок должен узнать свою квартиру.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731520" y="4727448"/>
            <a:ext cx="5303520" cy="859536"/>
          </a:xfrm>
          <a:prstGeom prst="roundRect">
            <a:avLst>
              <a:gd name="adj" fmla="val 8511"/>
            </a:avLst>
          </a:prstGeom>
          <a:solidFill>
            <a:srgbClr val="D9D0C0"/>
          </a:solidFill>
          <a:ln/>
        </p:spPr>
      </p:sp>
      <p:sp>
        <p:nvSpPr>
          <p:cNvPr id="33" name="Shape 29"/>
          <p:cNvSpPr/>
          <p:nvPr/>
        </p:nvSpPr>
        <p:spPr>
          <a:xfrm>
            <a:off x="640080" y="4636008"/>
            <a:ext cx="53035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41248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1"/>
          <p:cNvSpPr/>
          <p:nvPr/>
        </p:nvSpPr>
        <p:spPr>
          <a:xfrm>
            <a:off x="1371600" y="47457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Жуть через недосказанность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1371600" y="50017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в три часа ночи орёт в пустой угол. Страшновато и смешно — без крови.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6336792" y="4727448"/>
            <a:ext cx="5303520" cy="859536"/>
          </a:xfrm>
          <a:prstGeom prst="roundRect">
            <a:avLst>
              <a:gd name="adj" fmla="val 8511"/>
            </a:avLst>
          </a:prstGeom>
          <a:solidFill>
            <a:srgbClr val="D9D0C0"/>
          </a:solidFill>
          <a:ln/>
        </p:spPr>
      </p:sp>
      <p:sp>
        <p:nvSpPr>
          <p:cNvPr id="38" name="Shape 34"/>
          <p:cNvSpPr/>
          <p:nvPr/>
        </p:nvSpPr>
        <p:spPr>
          <a:xfrm>
            <a:off x="6245352" y="4636008"/>
            <a:ext cx="53035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4652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0" name="Text 36"/>
          <p:cNvSpPr/>
          <p:nvPr/>
        </p:nvSpPr>
        <p:spPr>
          <a:xfrm>
            <a:off x="6976872" y="47457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Гэг читается без слов</a:t>
            </a:r>
            <a:endParaRPr lang="en-US" sz="1350" dirty="0"/>
          </a:p>
        </p:txBody>
      </p:sp>
      <p:sp>
        <p:nvSpPr>
          <p:cNvPr id="41" name="Text 37"/>
          <p:cNvSpPr/>
          <p:nvPr/>
        </p:nvSpPr>
        <p:spPr>
          <a:xfrm>
            <a:off x="6976872" y="50017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соль в анимации, текст — приправа. Заодно снимается барьер локализации.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43" name="Text 39"/>
          <p:cNvSpPr/>
          <p:nvPr/>
        </p:nvSpPr>
        <p:spPr>
          <a:xfrm>
            <a:off x="932688" y="5641848"/>
            <a:ext cx="10332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Табу: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смерть и травмы, жестокость к коту, медицинский натурализм, туалетный юмор как панчлайн, политика и религия.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Матрица источников катастроф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считается как заполнение сетки, а не как мозговой штурм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источников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Вода, высота, электричество, еда, мягкое, замкнутое. Каждый представлен минимум двумя предметами.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мотива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Батон добывает и обладает, Шило движется и охотится. Один источник — два разных исхода.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Двенадцать клеток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двадцать гэгов ложатся в сетку без остатка, а пустые клетки показывают, чего не хватает.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25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Художнику ставится задача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«нарисуй смешное», а «вот источник катастрофы, вот мотив кота».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5_shkod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3"/>
          <p:cNvSpPr/>
          <p:nvPr>
            <p:ph idx="103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100" dirty="0"/>
          </a:p>
        </p:txBody>
      </p:sp>
      <p:sp>
        <p:nvSpPr>
          <p:cNvPr id="10" name="Text 3"/>
          <p:cNvSpPr/>
          <p:nvPr>
            <p:ph idx="104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Двадцать гэгов в работе</a:t>
            </a:r>
            <a:endParaRPr lang="en-US" sz="3300" dirty="0"/>
          </a:p>
        </p:txBody>
      </p:sp>
      <p:sp>
        <p:nvSpPr>
          <p:cNvPr id="11" name="Text 3"/>
          <p:cNvSpPr/>
          <p:nvPr>
            <p:ph idx="105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общих и по два характерных на кота идут в MVP, остальные — в очередь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31520" y="274320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D9D0C0"/>
          </a:solidFill>
          <a:ln/>
        </p:spPr>
      </p:sp>
      <p:sp>
        <p:nvSpPr>
          <p:cNvPr id="13" name="Shape 9"/>
          <p:cNvSpPr/>
          <p:nvPr/>
        </p:nvSpPr>
        <p:spPr>
          <a:xfrm>
            <a:off x="640080" y="265176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96112" y="28529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A335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296722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81328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Общие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914400" y="3401568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Колонка заказала сорок банок тунца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Кактус упал в робот-пылесос: ирокез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диваном кладбище вещей и хомяк из 2019-го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Уснул на клавиатуре и написал начальнику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Коробка захлопнулась: настроение показывает вопрос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434840" y="274320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D9D0C0"/>
          </a:solidFill>
          <a:ln/>
        </p:spPr>
      </p:sp>
      <p:sp>
        <p:nvSpPr>
          <p:cNvPr id="19" name="Shape 14"/>
          <p:cNvSpPr/>
          <p:nvPr/>
        </p:nvSpPr>
        <p:spPr>
          <a:xfrm>
            <a:off x="4343400" y="265176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99432" y="28529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E9E8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732" y="296722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84648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Батон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4617720" y="3401568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Застрял под диваном с сосисками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Вышел из холодильника в кастрюле-шлеме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Дуэль взглядов с рыбкой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Весы показали ошибку — ушёл с достоинством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утру гость на полу, Батон на матрасе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138160" y="274320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D9D0C0"/>
          </a:solidFill>
          <a:ln/>
        </p:spPr>
      </p:sp>
      <p:sp>
        <p:nvSpPr>
          <p:cNvPr id="25" name="Shape 19"/>
          <p:cNvSpPr/>
          <p:nvPr/>
        </p:nvSpPr>
        <p:spPr>
          <a:xfrm>
            <a:off x="8046720" y="265176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302752" y="28529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963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052" y="2967228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887968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Шило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8321040" y="3401568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Зарядился от ковра и «чинит» технику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Погасил люстру собой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часа в засаде на исчезнувший лазер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Замотался в штору и стоит сенатором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Муха села ему на нос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31" name="Text 24"/>
          <p:cNvSpPr/>
          <p:nvPr/>
        </p:nvSpPr>
        <p:spPr>
          <a:xfrm>
            <a:off x="932688" y="5641848"/>
            <a:ext cx="10332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Ночные — для бота: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переставил магниты. Теперь порядок правильный. Не благодари» · «Твой носок теперь живёт под ванной»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4_dovol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Гэг «Аквариум»: три шага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Сетап, поворот и добивка — эталон, по которому делаются остальные</a:t>
            </a:r>
            <a:endParaRPr lang="en-US" sz="1500" dirty="0"/>
          </a:p>
        </p:txBody>
      </p:sp>
      <p:pic>
        <p:nvPicPr>
          <p:cNvPr id="12" name="Image 2" descr="gag_aquarium_co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64" y="2807208"/>
            <a:ext cx="1781233" cy="3163824"/>
          </a:xfrm>
          <a:prstGeom prst="rect">
            <a:avLst/>
          </a:prstGeom>
        </p:spPr>
      </p:pic>
      <p:sp>
        <p:nvSpPr>
          <p:cNvPr id="13" name="Text 9"/>
          <p:cNvSpPr/>
          <p:nvPr>
            <p:ph idx="113" type="body" hasCustomPrompt="1"/>
          </p:nvPr>
        </p:nvSpPr>
        <p:spPr>
          <a:xfrm>
            <a:off x="379476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Сетап</a:t>
            </a:r>
            <a:endParaRPr lang="en-US" sz="1350" dirty="0"/>
          </a:p>
        </p:txBody>
      </p:sp>
      <p:sp>
        <p:nvSpPr>
          <p:cNvPr id="14" name="Text 9"/>
          <p:cNvSpPr/>
          <p:nvPr>
            <p:ph idx="114" type="body" hasCustomPrompt="1"/>
          </p:nvPr>
        </p:nvSpPr>
        <p:spPr>
          <a:xfrm>
            <a:off x="3794760" y="3044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Батон гипнотизирует рыбку на удочке над аквариумом. Рыбка внутри смотрит настороженно</a:t>
            </a:r>
            <a:endParaRPr lang="en-US" sz="1200" dirty="0"/>
          </a:p>
        </p:txBody>
      </p:sp>
      <p:sp>
        <p:nvSpPr>
          <p:cNvPr id="15" name="Text 9"/>
          <p:cNvSpPr/>
          <p:nvPr>
            <p:ph idx="115" type="body" hasCustomPrompt="1"/>
          </p:nvPr>
        </p:nvSpPr>
        <p:spPr>
          <a:xfrm>
            <a:off x="3794760" y="3685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</a:t>
            </a:r>
            <a:endParaRPr lang="en-US" sz="1350" dirty="0"/>
          </a:p>
        </p:txBody>
      </p:sp>
      <p:sp>
        <p:nvSpPr>
          <p:cNvPr id="16" name="Text 9"/>
          <p:cNvSpPr/>
          <p:nvPr>
            <p:ph idx="116" type="body" hasCustomPrompt="1"/>
          </p:nvPr>
        </p:nvSpPr>
        <p:spPr>
          <a:xfrm>
            <a:off x="3794760" y="39410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Прыжок мимо приманки — лапы врастопырку. Рыбка закрывает морду плавником</a:t>
            </a:r>
            <a:endParaRPr lang="en-US" sz="1200" dirty="0"/>
          </a:p>
        </p:txBody>
      </p:sp>
      <p:sp>
        <p:nvSpPr>
          <p:cNvPr id="17" name="Text 9"/>
          <p:cNvSpPr/>
          <p:nvPr>
            <p:ph idx="117" type="body" hasCustomPrompt="1"/>
          </p:nvPr>
        </p:nvSpPr>
        <p:spPr>
          <a:xfrm>
            <a:off x="3794760" y="45811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Добивка</a:t>
            </a:r>
            <a:endParaRPr lang="en-US" sz="1350" dirty="0"/>
          </a:p>
        </p:txBody>
      </p:sp>
      <p:sp>
        <p:nvSpPr>
          <p:cNvPr id="18" name="Text 9"/>
          <p:cNvSpPr/>
          <p:nvPr>
            <p:ph idx="118" type="body" hasCustomPrompt="1"/>
          </p:nvPr>
        </p:nvSpPr>
        <p:spPr>
          <a:xfrm>
            <a:off x="3794760" y="48371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сидит в аквариуме по подбородок, замок на голове как корона. Пауза перед этим обязательна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520440" y="5385816"/>
            <a:ext cx="8028432" cy="768096"/>
          </a:xfrm>
          <a:prstGeom prst="roundRect">
            <a:avLst>
              <a:gd name="adj" fmla="val 9524"/>
            </a:avLst>
          </a:prstGeom>
          <a:solidFill>
            <a:srgbClr val="3A3355"/>
          </a:solidFill>
          <a:ln/>
        </p:spPr>
      </p:sp>
      <p:sp>
        <p:nvSpPr>
          <p:cNvPr id="20" name="Text 15"/>
          <p:cNvSpPr/>
          <p:nvPr/>
        </p:nvSpPr>
        <p:spPr>
          <a:xfrm>
            <a:off x="3794760" y="54772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 в игре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3794760" y="57332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Третий кадр — это состояние «после кота»: мокрые следы у тумбы и рыбка в стакане</a:t>
            </a:r>
            <a:endParaRPr lang="en-US" sz="1200" dirty="0"/>
          </a:p>
        </p:txBody>
      </p:sp>
      <p:sp>
        <p:nvSpPr>
          <p:cNvPr id="22" name="Text 9"/>
          <p:cNvSpPr/>
          <p:nvPr>
            <p:ph idx="112" hasCustomPrompt="1"/>
          </p:nvPr>
        </p:nvSpPr>
        <p:spPr>
          <a:xfrm>
            <a:off x="749808" y="2807208"/>
            <a:ext cx="2066544" cy="316382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9"/>
          <p:cNvSpPr/>
          <p:nvPr>
            <p:ph idx="119" type="body" hasCustomPrompt="1"/>
          </p:nvPr>
        </p:nvSpPr>
        <p:spPr>
          <a:xfrm>
            <a:off x="3794760" y="54772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24" name="Text 9"/>
          <p:cNvSpPr/>
          <p:nvPr>
            <p:ph idx="120" type="body" hasCustomPrompt="1"/>
          </p:nvPr>
        </p:nvSpPr>
        <p:spPr>
          <a:xfrm>
            <a:off x="3794760" y="57332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1_rasstro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>
            <p:ph idx="106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100" dirty="0"/>
          </a:p>
        </p:txBody>
      </p:sp>
      <p:sp>
        <p:nvSpPr>
          <p:cNvPr id="10" name="Text 6"/>
          <p:cNvSpPr/>
          <p:nvPr>
            <p:ph idx="107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Лор: интрига вместо экспозиции</a:t>
            </a:r>
            <a:endParaRPr lang="en-US" sz="3300" dirty="0"/>
          </a:p>
        </p:txBody>
      </p:sp>
      <p:pic>
        <p:nvPicPr>
          <p:cNvPr id="11" name="Image 2" descr="mood_1_rasstro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868680" cy="868680"/>
          </a:xfrm>
          <a:prstGeom prst="rect">
            <a:avLst/>
          </a:prstGeom>
        </p:spPr>
      </p:pic>
      <p:sp>
        <p:nvSpPr>
          <p:cNvPr id="12" name="Text 6"/>
          <p:cNvSpPr/>
          <p:nvPr>
            <p:ph idx="109" type="body" hasCustomPrompt="1"/>
          </p:nvPr>
        </p:nvSpPr>
        <p:spPr>
          <a:xfrm>
            <a:off x="2514600" y="2999232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«Я видел то, что видел. Не спрашивай»</a:t>
            </a:r>
            <a:endParaRPr lang="en-US" sz="3000" dirty="0"/>
          </a:p>
        </p:txBody>
      </p:sp>
      <p:sp>
        <p:nvSpPr>
          <p:cNvPr id="13" name="Text 6"/>
          <p:cNvSpPr/>
          <p:nvPr>
            <p:ph idx="110" type="body" hasCustomPrompt="1"/>
          </p:nvPr>
        </p:nvSpPr>
        <p:spPr>
          <a:xfrm>
            <a:off x="2542032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ночное сообщение · три часа ночи</a:t>
            </a:r>
            <a:endParaRPr lang="en-US" sz="1400" dirty="0"/>
          </a:p>
        </p:txBody>
      </p:sp>
      <p:sp>
        <p:nvSpPr>
          <p:cNvPr id="14" name="Text 6"/>
          <p:cNvSpPr/>
          <p:nvPr>
            <p:ph idx="111" type="body" hasCustomPrompt="1"/>
          </p:nvPr>
        </p:nvSpPr>
        <p:spPr>
          <a:xfrm>
            <a:off x="96012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Прошлое кота не раскрываем. Только намёки: силуэт второго кота на стене, царапины на косяке там, куда он не достаёт.</a:t>
            </a:r>
            <a:endParaRPr lang="en-US" sz="1400" dirty="0"/>
          </a:p>
        </p:txBody>
      </p:sp>
      <p:sp>
        <p:nvSpPr>
          <p:cNvPr id="15" name="Text 6"/>
          <p:cNvSpPr/>
          <p:nvPr>
            <p:ph idx="108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251460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04 ИЗ 07</a:t>
            </a:r>
            <a:endParaRPr lang="en-US" sz="12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2468880" y="2286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Ретеншн и бот</a:t>
            </a:r>
            <a:endParaRPr lang="en-US" sz="4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2514600" y="34015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кот сам возвращает игрока в игру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51460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4"/>
          <p:cNvSpPr/>
          <p:nvPr/>
        </p:nvSpPr>
        <p:spPr>
          <a:xfrm>
            <a:off x="333756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5"/>
          <p:cNvSpPr/>
          <p:nvPr/>
        </p:nvSpPr>
        <p:spPr>
          <a:xfrm>
            <a:off x="416052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8" name="Shape 6"/>
          <p:cNvSpPr/>
          <p:nvPr/>
        </p:nvSpPr>
        <p:spPr>
          <a:xfrm>
            <a:off x="498348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9" name="Shape 7"/>
          <p:cNvSpPr/>
          <p:nvPr/>
        </p:nvSpPr>
        <p:spPr>
          <a:xfrm>
            <a:off x="580644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1" name="Shape 9"/>
          <p:cNvSpPr/>
          <p:nvPr/>
        </p:nvSpPr>
        <p:spPr>
          <a:xfrm>
            <a:off x="745236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презентации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56" y="4288536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3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2_ploh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РЕТЕНШН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Кот пишет вам сам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Подписку предлагаем как фичу, а не как разрешение на уведомления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сообщение в день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Утром, в тихие часы, с лёгкой отпиской. Цель — половина новых игроков.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рассылка, а переписка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кнопки под сообщением — «ты чего», «молодец», «я скучал» — и кот отвечает одной фразой.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Возврат в один тап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ведёт прямо на сцену события в комнате. Сообщение никогда не приводит в пустоту.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25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Молчание тоже сообщение.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игрок пропал, бот замолкает на два дня, а потом присылает одну очень короткую фразу.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РЕТЕНШН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Ночная жизнь кота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игрока нет, кот живёт своей жизнью — и утром это видно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Ночное событие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ночь из пула разыгрывается сцена — но только на уже открытых точках комнаты.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Сообщения собираются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Слоты: что кот сделал ночью, настроение, чего игрок давно не делал, погода. Тридцать заготовок дают сотни сообщений.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 в неделю — сюжет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Мини-сериал на три-пять сообщений: кот объявил войну пылесосу. Понедельник — разведка, пятница — перемирие.</a:t>
            </a:r>
            <a:endParaRPr lang="en-US" sz="1300" dirty="0"/>
          </a:p>
        </p:txBody>
      </p:sp>
      <p:sp>
        <p:nvSpPr>
          <p:cNvPr id="24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4_dovol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РЕТЕНШН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Ритуал: дни привычки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кончается, привычка остаётся — но её закладывают с первого дня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мини-цели дня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Покормить, сыграть, погладить. Выполнил — небольшая награда и довольная морда.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Мягкая серия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дни подряд, но за пропуск не наказываем: серия даёт бонус, обрыв не отнимает ничего.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Вечерние точки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заход не раньше чем через шесть часов открывает две-три «милые» точки и смягчает утро.</a:t>
            </a:r>
            <a:endParaRPr lang="en-US" sz="1300" dirty="0"/>
          </a:p>
        </p:txBody>
      </p:sp>
      <p:sp>
        <p:nvSpPr>
          <p:cNvPr id="24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РЕТЕНШН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выглядит утро игрока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игровой сцены, три рубленые фразы и одна кнопка</a:t>
            </a:r>
            <a:endParaRPr lang="en-US" sz="1500" dirty="0"/>
          </a:p>
        </p:txBody>
      </p:sp>
      <p:pic>
        <p:nvPicPr>
          <p:cNvPr id="12" name="Image 2" descr="ТГ-бот — утреннее сообщение (мокап)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090" y="2807208"/>
            <a:ext cx="1505980" cy="3163824"/>
          </a:xfrm>
          <a:prstGeom prst="rect">
            <a:avLst/>
          </a:prstGeom>
        </p:spPr>
      </p:pic>
      <p:sp>
        <p:nvSpPr>
          <p:cNvPr id="13" name="Text 9"/>
          <p:cNvSpPr/>
          <p:nvPr>
            <p:ph idx="113" type="body" hasCustomPrompt="1"/>
          </p:nvPr>
        </p:nvSpPr>
        <p:spPr>
          <a:xfrm>
            <a:off x="379476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Аватар — морда кота</a:t>
            </a:r>
            <a:endParaRPr lang="en-US" sz="1350" dirty="0"/>
          </a:p>
        </p:txBody>
      </p:sp>
      <p:sp>
        <p:nvSpPr>
          <p:cNvPr id="14" name="Text 9"/>
          <p:cNvSpPr/>
          <p:nvPr>
            <p:ph idx="114" type="body" hasCustomPrompt="1"/>
          </p:nvPr>
        </p:nvSpPr>
        <p:spPr>
          <a:xfrm>
            <a:off x="3794760" y="3044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же, что в шкале настроения: узнаваемость между игрой и ботом</a:t>
            </a:r>
            <a:endParaRPr lang="en-US" sz="1200" dirty="0"/>
          </a:p>
        </p:txBody>
      </p:sp>
      <p:sp>
        <p:nvSpPr>
          <p:cNvPr id="15" name="Text 9"/>
          <p:cNvSpPr/>
          <p:nvPr>
            <p:ph idx="115" type="body" hasCustomPrompt="1"/>
          </p:nvPr>
        </p:nvSpPr>
        <p:spPr>
          <a:xfrm>
            <a:off x="3794760" y="3685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— артефакт из игры</a:t>
            </a:r>
            <a:endParaRPr lang="en-US" sz="1350" dirty="0"/>
          </a:p>
        </p:txBody>
      </p:sp>
      <p:sp>
        <p:nvSpPr>
          <p:cNvPr id="16" name="Text 9"/>
          <p:cNvSpPr/>
          <p:nvPr>
            <p:ph idx="116" type="body" hasCustomPrompt="1"/>
          </p:nvPr>
        </p:nvSpPr>
        <p:spPr>
          <a:xfrm>
            <a:off x="3794760" y="39410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Рыбка, переехавшая в стакан, — прямое следствие вчерашнего гэга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520440" y="4489704"/>
            <a:ext cx="8028432" cy="768096"/>
          </a:xfrm>
          <a:prstGeom prst="roundRect">
            <a:avLst>
              <a:gd name="adj" fmla="val 9524"/>
            </a:avLst>
          </a:prstGeom>
          <a:solidFill>
            <a:srgbClr val="3A3355"/>
          </a:solidFill>
          <a:ln/>
        </p:spPr>
      </p:sp>
      <p:sp>
        <p:nvSpPr>
          <p:cNvPr id="18" name="Text 13"/>
          <p:cNvSpPr/>
          <p:nvPr/>
        </p:nvSpPr>
        <p:spPr>
          <a:xfrm>
            <a:off x="3794760" y="45811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3794760" y="48371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«Решение было обоюдное. Почти» — самоуверенность и любовь между строк</a:t>
            </a:r>
            <a:endParaRPr lang="en-US" sz="1200" dirty="0"/>
          </a:p>
        </p:txBody>
      </p:sp>
      <p:sp>
        <p:nvSpPr>
          <p:cNvPr id="20" name="Text 9"/>
          <p:cNvSpPr/>
          <p:nvPr>
            <p:ph idx="119" type="body" hasCustomPrompt="1"/>
          </p:nvPr>
        </p:nvSpPr>
        <p:spPr>
          <a:xfrm>
            <a:off x="3794760" y="54772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Ритм типов</a:t>
            </a:r>
            <a:endParaRPr lang="en-US" sz="1350" dirty="0"/>
          </a:p>
        </p:txBody>
      </p:sp>
      <p:sp>
        <p:nvSpPr>
          <p:cNvPr id="21" name="Text 9"/>
          <p:cNvSpPr/>
          <p:nvPr>
            <p:ph idx="120" type="body" hasCustomPrompt="1"/>
          </p:nvPr>
        </p:nvSpPr>
        <p:spPr>
          <a:xfrm>
            <a:off x="3794760" y="57332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Восемь из десяти — гэг, полтора — просьба, полсообщения — лор и жуть</a:t>
            </a:r>
            <a:endParaRPr lang="en-US" sz="1200" dirty="0"/>
          </a:p>
        </p:txBody>
      </p:sp>
      <p:sp>
        <p:nvSpPr>
          <p:cNvPr id="22" name="Text 9"/>
          <p:cNvSpPr/>
          <p:nvPr>
            <p:ph idx="112" hasCustomPrompt="1"/>
          </p:nvPr>
        </p:nvSpPr>
        <p:spPr>
          <a:xfrm>
            <a:off x="749808" y="2807208"/>
            <a:ext cx="2066544" cy="316382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3794760" y="45811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24" name="Text 9"/>
          <p:cNvSpPr/>
          <p:nvPr>
            <p:ph idx="118" type="body" hasCustomPrompt="1"/>
          </p:nvPr>
        </p:nvSpPr>
        <p:spPr>
          <a:xfrm>
            <a:off x="3794760" y="48371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251460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05 ИЗ 07</a:t>
            </a:r>
            <a:endParaRPr lang="en-US" sz="12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2468880" y="2286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Экономика</a:t>
            </a:r>
            <a:endParaRPr lang="en-US" sz="4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2514600" y="34015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валюта, честный донат и планы на рекламу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51460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4"/>
          <p:cNvSpPr/>
          <p:nvPr/>
        </p:nvSpPr>
        <p:spPr>
          <a:xfrm>
            <a:off x="333756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5"/>
          <p:cNvSpPr/>
          <p:nvPr/>
        </p:nvSpPr>
        <p:spPr>
          <a:xfrm>
            <a:off x="416052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8" name="Shape 6"/>
          <p:cNvSpPr/>
          <p:nvPr/>
        </p:nvSpPr>
        <p:spPr>
          <a:xfrm>
            <a:off x="498348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9" name="Shape 7"/>
          <p:cNvSpPr/>
          <p:nvPr/>
        </p:nvSpPr>
        <p:spPr>
          <a:xfrm>
            <a:off x="580644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1" name="Shape 9"/>
          <p:cNvSpPr/>
          <p:nvPr/>
        </p:nvSpPr>
        <p:spPr>
          <a:xfrm>
            <a:off x="745236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презентации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56" y="4288536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3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Валюта «Рыбки»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мягкая валюта, никаких вторых контуров в MVP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Откуда берутся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Мини-игра, ежедневный вход, дейлик «три предмета». Около девяноста рыбок чистыми в день.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Куда уходят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Еда, игрушки и декор. Предмет стоит 250–350 рыбок — три дня накопления и новый гэг.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что платят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 рыбок за Telegram Stars или карту. Донат ускоряет, но ничего не открывает эксклюзивно.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25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попытки растёт быстрее награды.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Платные заходы — это «хочу побить рекорд», а не способ фармить валюту.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4_dovol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покупка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Продаём эмоцию и нетерпение, а не преимущество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Стартер-пак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трёх-пяти открытых событий, окно 48 часов. Уникальный предмет с эксклюзивным гэгом и рыбки по щедрому курсу.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Кот сам просит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Подходит к витринному предмету, смотрит и вздыхает. Эмоциональный триггер сильнее скидки.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от кота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первой покупки — эксклюзивная анимация: кот обнимает игрока.</a:t>
            </a:r>
            <a:endParaRPr lang="en-US" sz="1300" dirty="0"/>
          </a:p>
        </p:txBody>
      </p:sp>
      <p:sp>
        <p:nvSpPr>
          <p:cNvPr id="24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MVP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Подключаем деньги, когда подтвердится ретеншен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Реклама с наградой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за рыбки или удвоение награды мини-игры. Никаких межстраничных вставок — бережём уют.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Брендинг в комнате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Миска фирменного корма, коробка маркетплейса, партнёрства с приютами и котиками-знаменитостями.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Новые коты и наборы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Ростер до пяти котов и сезонные наборы декора — главный платный контент после MVP.</a:t>
            </a:r>
            <a:endParaRPr lang="en-US" sz="1300" dirty="0"/>
          </a:p>
        </p:txBody>
      </p:sp>
      <p:sp>
        <p:nvSpPr>
          <p:cNvPr id="24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251460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06 ИЗ 07</a:t>
            </a:r>
            <a:endParaRPr lang="en-US" sz="12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2468880" y="2286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 и продакшн</a:t>
            </a:r>
            <a:endParaRPr lang="en-US" sz="4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2514600" y="34015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делаем в MVP, как это устроено и сколько живёт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51460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4"/>
          <p:cNvSpPr/>
          <p:nvPr/>
        </p:nvSpPr>
        <p:spPr>
          <a:xfrm>
            <a:off x="333756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5"/>
          <p:cNvSpPr/>
          <p:nvPr/>
        </p:nvSpPr>
        <p:spPr>
          <a:xfrm>
            <a:off x="416052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8" name="Shape 6"/>
          <p:cNvSpPr/>
          <p:nvPr/>
        </p:nvSpPr>
        <p:spPr>
          <a:xfrm>
            <a:off x="498348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9" name="Shape 7"/>
          <p:cNvSpPr/>
          <p:nvPr/>
        </p:nvSpPr>
        <p:spPr>
          <a:xfrm>
            <a:off x="580644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11" name="Shape 9"/>
          <p:cNvSpPr/>
          <p:nvPr/>
        </p:nvSpPr>
        <p:spPr>
          <a:xfrm>
            <a:off x="7452360" y="4343400"/>
            <a:ext cx="777240" cy="237744"/>
          </a:xfrm>
          <a:prstGeom prst="rect">
            <a:avLst/>
          </a:prstGeom>
          <a:solidFill>
            <a:srgbClr val="4E477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презентации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56" y="4288536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3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7"/>
          <p:cNvSpPr/>
          <p:nvPr>
            <p:ph idx="107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1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Скоуп MVP</a:t>
            </a:r>
            <a:endParaRPr lang="en-US" sz="33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новое уходит в бэклог — без исключений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96112" y="29077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E9E8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022092"/>
            <a:ext cx="228600" cy="2286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232904" y="29077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204" y="3022092"/>
            <a:ext cx="228600" cy="228600"/>
          </a:xfrm>
          <a:prstGeom prst="rect">
            <a:avLst/>
          </a:prstGeom>
        </p:spPr>
      </p:pic>
      <p:sp>
        <p:nvSpPr>
          <p:cNvPr id="16" name="Text 7"/>
          <p:cNvSpPr/>
          <p:nvPr>
            <p:ph idx="110" type="body" hasCustomPrompt="1"/>
          </p:nvPr>
        </p:nvSpPr>
        <p:spPr>
          <a:xfrm>
            <a:off x="1481328" y="2880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Входит в MVP</a:t>
            </a:r>
            <a:endParaRPr lang="en-US" sz="1700" dirty="0"/>
          </a:p>
        </p:txBody>
      </p:sp>
      <p:sp>
        <p:nvSpPr>
          <p:cNvPr id="17" name="Text 7"/>
          <p:cNvSpPr/>
          <p:nvPr>
            <p:ph idx="112" type="body" hasCustomPrompt="1"/>
          </p:nvPr>
        </p:nvSpPr>
        <p:spPr>
          <a:xfrm>
            <a:off x="781812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Бэклог обновлений</a:t>
            </a:r>
            <a:endParaRPr lang="en-US" sz="1700" dirty="0"/>
          </a:p>
        </p:txBody>
      </p:sp>
      <p:sp>
        <p:nvSpPr>
          <p:cNvPr id="18" name="Text 7"/>
          <p:cNvSpPr/>
          <p:nvPr>
            <p:ph idx="111" type="body" hasCustomPrompt="1"/>
          </p:nvPr>
        </p:nvSpPr>
        <p:spPr>
          <a:xfrm>
            <a:off x="914400" y="3310128"/>
            <a:ext cx="5440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комната: 8–12 точек, 10 гэгов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Слоты и перетаскивание предметов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кота с разными исходами событий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 «тёмная комната»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Мини-игра «Шкаф»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Магазин: еда, декор, стартер-пак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Настроение, пять морд, ритуал дня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Дейлик «три предмета»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Бот: подписка, утренние сообщения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Тизер второго кота на 15-й день</a:t>
            </a:r>
            <a:endParaRPr lang="en-US" sz="1150" dirty="0"/>
          </a:p>
        </p:txBody>
      </p:sp>
      <p:sp>
        <p:nvSpPr>
          <p:cNvPr id="19" name="Text 7"/>
          <p:cNvSpPr/>
          <p:nvPr>
            <p:ph idx="113" type="body" hasCustomPrompt="1"/>
          </p:nvPr>
        </p:nvSpPr>
        <p:spPr>
          <a:xfrm>
            <a:off x="7251192" y="3310128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Связки пар предметов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Альбом, время суток, погода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локация и «хозяева спят»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Заселение второго кота и парные гэги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Коты с третьего по пятый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«Скинь всё со стола» и «Три в ряд»</a:t>
            </a:r>
            <a:endParaRPr lang="en-US" sz="1150" dirty="0"/>
          </a:p>
          <a:p>
            <a:pPr algn="l" marL="127000" indent="-127000">
              <a:buSzPct val="100000"/>
              <a:buChar char="•"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Реклама, партнёрства, гости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21" name="Text 7"/>
          <p:cNvSpPr/>
          <p:nvPr>
            <p:ph idx="114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считаем в гэгах.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гэг = идея, две-четыре секунды анимации и состояние «после». Минимум для живой комнаты — десять.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3"/>
          <p:cNvSpPr/>
          <p:nvPr>
            <p:ph idx="103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100" dirty="0"/>
          </a:p>
        </p:txBody>
      </p:sp>
      <p:sp>
        <p:nvSpPr>
          <p:cNvPr id="10" name="Text 3"/>
          <p:cNvSpPr/>
          <p:nvPr>
            <p:ph idx="104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экранов и навигации</a:t>
            </a:r>
            <a:endParaRPr lang="en-US" sz="3300" dirty="0"/>
          </a:p>
        </p:txBody>
      </p:sp>
      <p:sp>
        <p:nvSpPr>
          <p:cNvPr id="11" name="Text 3"/>
          <p:cNvSpPr/>
          <p:nvPr>
            <p:ph idx="105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Комната — единственный хаб: всё открывается из неё и возвращает только в неё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697480"/>
            <a:ext cx="1965960" cy="475488"/>
          </a:xfrm>
          <a:prstGeom prst="roundRect">
            <a:avLst>
              <a:gd name="adj" fmla="val 17308"/>
            </a:avLst>
          </a:prstGeom>
          <a:solidFill>
            <a:srgbClr val="E8F0F7"/>
          </a:solidFill>
          <a:ln w="13970">
            <a:solidFill>
              <a:srgbClr val="5EB2E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8096" y="2752344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68096" y="2990088"/>
            <a:ext cx="1709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 или браузер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1627632" y="3172968"/>
            <a:ext cx="0" cy="137160"/>
          </a:xfrm>
          <a:prstGeom prst="line">
            <a:avLst/>
          </a:prstGeom>
          <a:noFill/>
          <a:ln w="15875">
            <a:solidFill>
              <a:srgbClr val="9A93A8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40080" y="3310128"/>
            <a:ext cx="196596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3970">
            <a:solidFill>
              <a:srgbClr val="3A335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8096" y="338328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Сплэш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1627632" y="3712464"/>
            <a:ext cx="0" cy="164592"/>
          </a:xfrm>
          <a:prstGeom prst="line">
            <a:avLst/>
          </a:prstGeom>
          <a:noFill/>
          <a:ln w="15875">
            <a:solidFill>
              <a:srgbClr val="9A93A8"/>
            </a:solidFill>
            <a:prstDash val="solid"/>
            <a:tailEnd type="triangle"/>
          </a:ln>
        </p:spPr>
      </p:sp>
      <p:sp>
        <p:nvSpPr>
          <p:cNvPr id="19" name="Text 15"/>
          <p:cNvSpPr/>
          <p:nvPr/>
        </p:nvSpPr>
        <p:spPr>
          <a:xfrm>
            <a:off x="1700784" y="37124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запуск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40080" y="3877056"/>
            <a:ext cx="196596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3970">
            <a:solidFill>
              <a:srgbClr val="3A335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68096" y="393192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кота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768096" y="4169664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изменить нельзя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1627632" y="4407408"/>
            <a:ext cx="0" cy="164592"/>
          </a:xfrm>
          <a:prstGeom prst="line">
            <a:avLst/>
          </a:prstGeom>
          <a:noFill/>
          <a:ln w="15875">
            <a:solidFill>
              <a:srgbClr val="9A93A8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640080" y="4572000"/>
            <a:ext cx="196596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3970">
            <a:solidFill>
              <a:srgbClr val="3A335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8096" y="4626864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68096" y="4864608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тёмная комната, 5 шагов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40080" y="5394960"/>
            <a:ext cx="1965960" cy="566928"/>
          </a:xfrm>
          <a:prstGeom prst="roundRect">
            <a:avLst>
              <a:gd name="adj" fmla="val 14516"/>
            </a:avLst>
          </a:prstGeom>
          <a:solidFill>
            <a:srgbClr val="E8F0F7"/>
          </a:solidFill>
          <a:ln w="13970">
            <a:solidFill>
              <a:srgbClr val="5EB2E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8096" y="5449824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Утреннее сообщение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768096" y="5687568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deep-link на сцену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108960" y="3566160"/>
            <a:ext cx="2240280" cy="960120"/>
          </a:xfrm>
          <a:prstGeom prst="roundRect">
            <a:avLst>
              <a:gd name="adj" fmla="val 8571"/>
            </a:avLst>
          </a:prstGeom>
          <a:solidFill>
            <a:srgbClr val="E8963C"/>
          </a:solidFill>
          <a:ln w="13970">
            <a:solidFill>
              <a:srgbClr val="E8963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236976" y="362102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КОМНАТА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3236976" y="3858768"/>
            <a:ext cx="1984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4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хаб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108960" y="4663440"/>
            <a:ext cx="2240280" cy="777240"/>
          </a:xfrm>
          <a:prstGeom prst="roundRect">
            <a:avLst>
              <a:gd name="adj" fmla="val 10588"/>
            </a:avLst>
          </a:prstGeom>
          <a:solidFill>
            <a:srgbClr val="F6F2EA"/>
          </a:solidFill>
          <a:ln w="13970">
            <a:solidFill>
              <a:srgbClr val="D9D0C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36976" y="471830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комнаты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3236976" y="4956048"/>
            <a:ext cx="1984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гэги · связки пар · кормление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«три предмета» · расстановка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2606040" y="4837176"/>
            <a:ext cx="502920" cy="-676656"/>
          </a:xfrm>
          <a:prstGeom prst="line">
            <a:avLst/>
          </a:prstGeom>
          <a:noFill/>
          <a:ln w="15875">
            <a:solidFill>
              <a:srgbClr val="9A93A8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2606040" y="5678424"/>
            <a:ext cx="502920" cy="-1335024"/>
          </a:xfrm>
          <a:prstGeom prst="line">
            <a:avLst/>
          </a:prstGeom>
          <a:noFill/>
          <a:ln w="15875">
            <a:solidFill>
              <a:srgbClr val="9A93A8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5806440" y="2697480"/>
            <a:ext cx="178308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3970">
            <a:solidFill>
              <a:srgbClr val="3A335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934456" y="2752344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Шкаф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5934456" y="2990088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слингшот по полкам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5349240" y="3931920"/>
            <a:ext cx="457200" cy="-950976"/>
          </a:xfrm>
          <a:prstGeom prst="line">
            <a:avLst/>
          </a:prstGeom>
          <a:noFill/>
          <a:ln w="15875">
            <a:solidFill>
              <a:srgbClr val="9A93A8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5806440" y="3429000"/>
            <a:ext cx="178308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3970">
            <a:solidFill>
              <a:srgbClr val="3A335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934456" y="3483864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5934456" y="3721608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еда · декор · пак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5349240" y="3931920"/>
            <a:ext cx="457200" cy="-219456"/>
          </a:xfrm>
          <a:prstGeom prst="line">
            <a:avLst/>
          </a:prstGeom>
          <a:noFill/>
          <a:ln w="15875">
            <a:solidFill>
              <a:srgbClr val="9A93A8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5806440" y="4160520"/>
            <a:ext cx="178308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3970">
            <a:solidFill>
              <a:srgbClr val="3A335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934456" y="4215384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5934456" y="4453128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звук · бот · аккаунт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5349240" y="3931920"/>
            <a:ext cx="457200" cy="512064"/>
          </a:xfrm>
          <a:prstGeom prst="line">
            <a:avLst/>
          </a:prstGeom>
          <a:noFill/>
          <a:ln w="15875">
            <a:solidFill>
              <a:srgbClr val="9A93A8"/>
            </a:solidFill>
            <a:prstDash val="solid"/>
            <a:tailEnd type="triangle"/>
          </a:ln>
        </p:spPr>
      </p:sp>
      <p:sp>
        <p:nvSpPr>
          <p:cNvPr id="50" name="Shape 46"/>
          <p:cNvSpPr/>
          <p:nvPr/>
        </p:nvSpPr>
        <p:spPr>
          <a:xfrm>
            <a:off x="5806440" y="4892040"/>
            <a:ext cx="1783080" cy="530352"/>
          </a:xfrm>
          <a:prstGeom prst="roundRect">
            <a:avLst>
              <a:gd name="adj" fmla="val 15517"/>
            </a:avLst>
          </a:prstGeom>
          <a:solidFill>
            <a:srgbClr val="FDF3E4"/>
          </a:solidFill>
          <a:ln w="13970">
            <a:solidFill>
              <a:srgbClr val="E8963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934456" y="4946904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</a:t>
            </a:r>
            <a:endParaRPr lang="en-US" sz="1150" dirty="0"/>
          </a:p>
        </p:txBody>
      </p:sp>
      <p:sp>
        <p:nvSpPr>
          <p:cNvPr id="52" name="Text 48"/>
          <p:cNvSpPr/>
          <p:nvPr/>
        </p:nvSpPr>
        <p:spPr>
          <a:xfrm>
            <a:off x="5934456" y="5184648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или карта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693408" y="3977640"/>
            <a:ext cx="0" cy="914400"/>
          </a:xfrm>
          <a:prstGeom prst="line">
            <a:avLst/>
          </a:prstGeom>
          <a:noFill/>
          <a:ln w="15875">
            <a:solidFill>
              <a:srgbClr val="9A93A8"/>
            </a:solidFill>
            <a:prstDash val="solid"/>
            <a:tailEnd type="triangle"/>
          </a:ln>
        </p:spPr>
      </p:sp>
      <p:sp>
        <p:nvSpPr>
          <p:cNvPr id="54" name="Shape 50"/>
          <p:cNvSpPr/>
          <p:nvPr/>
        </p:nvSpPr>
        <p:spPr>
          <a:xfrm>
            <a:off x="5806440" y="5605272"/>
            <a:ext cx="1783080" cy="530352"/>
          </a:xfrm>
          <a:prstGeom prst="roundRect">
            <a:avLst>
              <a:gd name="adj" fmla="val 15517"/>
            </a:avLst>
          </a:prstGeom>
          <a:solidFill>
            <a:srgbClr val="F6F2EA"/>
          </a:solidFill>
          <a:ln w="13970">
            <a:solidFill>
              <a:srgbClr val="E8963C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5934456" y="5660136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оверлеи</a:t>
            </a:r>
            <a:endParaRPr lang="en-US" sz="1150" dirty="0"/>
          </a:p>
        </p:txBody>
      </p:sp>
      <p:sp>
        <p:nvSpPr>
          <p:cNvPr id="56" name="Text 52"/>
          <p:cNvSpPr/>
          <p:nvPr/>
        </p:nvSpPr>
        <p:spPr>
          <a:xfrm>
            <a:off x="5934456" y="5897880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· пак · встреча</a:t>
            </a:r>
            <a:endParaRPr lang="en-US" sz="950" dirty="0"/>
          </a:p>
        </p:txBody>
      </p:sp>
      <p:sp>
        <p:nvSpPr>
          <p:cNvPr id="57" name="Shape 53"/>
          <p:cNvSpPr/>
          <p:nvPr/>
        </p:nvSpPr>
        <p:spPr>
          <a:xfrm>
            <a:off x="7955280" y="2697480"/>
            <a:ext cx="3593592" cy="749808"/>
          </a:xfrm>
          <a:prstGeom prst="roundRect">
            <a:avLst>
              <a:gd name="adj" fmla="val 9756"/>
            </a:avLst>
          </a:prstGeom>
          <a:solidFill>
            <a:srgbClr val="3A3355"/>
          </a:solidFill>
          <a:ln w="12700">
            <a:solidFill>
              <a:srgbClr val="3A3355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8156448" y="2770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Комната — единственный хаб</a:t>
            </a:r>
            <a:endParaRPr lang="en-US" sz="1200" dirty="0"/>
          </a:p>
        </p:txBody>
      </p:sp>
      <p:sp>
        <p:nvSpPr>
          <p:cNvPr id="59" name="Text 55"/>
          <p:cNvSpPr/>
          <p:nvPr/>
        </p:nvSpPr>
        <p:spPr>
          <a:xfrm>
            <a:off x="8156448" y="3017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открываются только из неё и возвращают только в неё</a:t>
            </a:r>
            <a:endParaRPr lang="en-US" sz="1000" dirty="0"/>
          </a:p>
        </p:txBody>
      </p:sp>
      <p:sp>
        <p:nvSpPr>
          <p:cNvPr id="60" name="Shape 56"/>
          <p:cNvSpPr/>
          <p:nvPr/>
        </p:nvSpPr>
        <p:spPr>
          <a:xfrm>
            <a:off x="7955280" y="3557016"/>
            <a:ext cx="359359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8156448" y="3630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Гэги — не экраны</a:t>
            </a:r>
            <a:endParaRPr lang="en-US" sz="1200" dirty="0"/>
          </a:p>
        </p:txBody>
      </p:sp>
      <p:sp>
        <p:nvSpPr>
          <p:cNvPr id="62" name="Text 58"/>
          <p:cNvSpPr/>
          <p:nvPr/>
        </p:nvSpPr>
        <p:spPr>
          <a:xfrm>
            <a:off x="8156448" y="38770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и «три предмета» идут внутри комнаты, навигация не прерывается</a:t>
            </a:r>
            <a:endParaRPr lang="en-US" sz="1000" dirty="0"/>
          </a:p>
        </p:txBody>
      </p:sp>
      <p:sp>
        <p:nvSpPr>
          <p:cNvPr id="63" name="Shape 59"/>
          <p:cNvSpPr/>
          <p:nvPr/>
        </p:nvSpPr>
        <p:spPr>
          <a:xfrm>
            <a:off x="7955280" y="4416552"/>
            <a:ext cx="359359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8156448" y="4489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из бота — не в пустоту</a:t>
            </a:r>
            <a:endParaRPr lang="en-US" sz="1200" dirty="0"/>
          </a:p>
        </p:txBody>
      </p:sp>
      <p:sp>
        <p:nvSpPr>
          <p:cNvPr id="65" name="Text 61"/>
          <p:cNvSpPr/>
          <p:nvPr/>
        </p:nvSpPr>
        <p:spPr>
          <a:xfrm>
            <a:off x="8156448" y="47365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ведёт на конкретную сцену; если событие просмотрено, кот сидит рядом</a:t>
            </a:r>
            <a:endParaRPr lang="en-US" sz="1000" dirty="0"/>
          </a:p>
        </p:txBody>
      </p:sp>
      <p:sp>
        <p:nvSpPr>
          <p:cNvPr id="66" name="Shape 62"/>
          <p:cNvSpPr/>
          <p:nvPr/>
        </p:nvSpPr>
        <p:spPr>
          <a:xfrm>
            <a:off x="7955280" y="5276088"/>
            <a:ext cx="359359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1D8C7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8156448" y="5349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Оверлеи не стакаются</a:t>
            </a:r>
            <a:endParaRPr lang="en-US" sz="1200" dirty="0"/>
          </a:p>
        </p:txBody>
      </p:sp>
      <p:sp>
        <p:nvSpPr>
          <p:cNvPr id="68" name="Text 64"/>
          <p:cNvSpPr/>
          <p:nvPr/>
        </p:nvSpPr>
        <p:spPr>
          <a:xfrm>
            <a:off x="8156448" y="5596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 → пак → подписка → встреча, не больше одного за сессию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4_dovol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11"/>
          <p:cNvSpPr/>
          <p:nvPr>
            <p:ph idx="111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100" dirty="0"/>
          </a:p>
        </p:txBody>
      </p:sp>
      <p:sp>
        <p:nvSpPr>
          <p:cNvPr id="10" name="Text 11"/>
          <p:cNvSpPr/>
          <p:nvPr>
            <p:ph idx="112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живёт контент MVP</a:t>
            </a:r>
            <a:endParaRPr lang="en-US" sz="3300" dirty="0"/>
          </a:p>
        </p:txBody>
      </p:sp>
      <p:sp>
        <p:nvSpPr>
          <p:cNvPr id="11" name="Text 11"/>
          <p:cNvSpPr/>
          <p:nvPr>
            <p:ph idx="113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слоя удержания работают параллельно, а не по очереди</a:t>
            </a:r>
            <a:endParaRPr lang="en-US" sz="1500" dirty="0"/>
          </a:p>
        </p:txBody>
      </p:sp>
      <p:sp>
        <p:nvSpPr>
          <p:cNvPr id="12" name="Text 11"/>
          <p:cNvSpPr/>
          <p:nvPr>
            <p:ph idx="114" type="body" hasCustomPrompt="1"/>
          </p:nvPr>
        </p:nvSpPr>
        <p:spPr>
          <a:xfrm>
            <a:off x="896112" y="2962656"/>
            <a:ext cx="20231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16–18</a:t>
            </a:r>
            <a:endParaRPr lang="en-US" sz="3800" dirty="0"/>
          </a:p>
        </p:txBody>
      </p:sp>
      <p:sp>
        <p:nvSpPr>
          <p:cNvPr id="13" name="Text 11"/>
          <p:cNvSpPr/>
          <p:nvPr>
            <p:ph idx="115" type="body" hasCustomPrompt="1"/>
          </p:nvPr>
        </p:nvSpPr>
        <p:spPr>
          <a:xfrm>
            <a:off x="896112" y="3767328"/>
            <a:ext cx="2023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контент-дней</a:t>
            </a:r>
            <a:endParaRPr lang="en-US" sz="1400" dirty="0"/>
          </a:p>
        </p:txBody>
      </p:sp>
      <p:sp>
        <p:nvSpPr>
          <p:cNvPr id="14" name="Text 11"/>
          <p:cNvSpPr/>
          <p:nvPr>
            <p:ph idx="116" type="body" hasCustomPrompt="1"/>
          </p:nvPr>
        </p:nvSpPr>
        <p:spPr>
          <a:xfrm>
            <a:off x="896112" y="4114800"/>
            <a:ext cx="20231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12–14 гэгов, растянутых экономикой</a:t>
            </a:r>
            <a:endParaRPr lang="en-US" sz="1200" dirty="0"/>
          </a:p>
        </p:txBody>
      </p:sp>
      <p:sp>
        <p:nvSpPr>
          <p:cNvPr id="15" name="Text 11"/>
          <p:cNvSpPr/>
          <p:nvPr>
            <p:ph idx="117" type="body" hasCustomPrompt="1"/>
          </p:nvPr>
        </p:nvSpPr>
        <p:spPr>
          <a:xfrm>
            <a:off x="3687318" y="2962656"/>
            <a:ext cx="20231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25–30</a:t>
            </a:r>
            <a:endParaRPr lang="en-US" sz="3800" dirty="0"/>
          </a:p>
        </p:txBody>
      </p:sp>
      <p:sp>
        <p:nvSpPr>
          <p:cNvPr id="16" name="Text 11"/>
          <p:cNvSpPr/>
          <p:nvPr>
            <p:ph idx="118" type="body" hasCustomPrompt="1"/>
          </p:nvPr>
        </p:nvSpPr>
        <p:spPr>
          <a:xfrm>
            <a:off x="3687318" y="3767328"/>
            <a:ext cx="2023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дней привычки</a:t>
            </a:r>
            <a:endParaRPr lang="en-US" sz="1400" dirty="0"/>
          </a:p>
        </p:txBody>
      </p:sp>
      <p:sp>
        <p:nvSpPr>
          <p:cNvPr id="17" name="Text 11"/>
          <p:cNvSpPr/>
          <p:nvPr>
            <p:ph idx="119" type="body" hasCustomPrompt="1"/>
          </p:nvPr>
        </p:nvSpPr>
        <p:spPr>
          <a:xfrm>
            <a:off x="3687318" y="4114800"/>
            <a:ext cx="20231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ритуал, мини-игра и сообщения бота</a:t>
            </a:r>
            <a:endParaRPr lang="en-US" sz="1200" dirty="0"/>
          </a:p>
        </p:txBody>
      </p:sp>
      <p:sp>
        <p:nvSpPr>
          <p:cNvPr id="18" name="Text 11"/>
          <p:cNvSpPr/>
          <p:nvPr>
            <p:ph idx="120" type="body" hasCustomPrompt="1"/>
          </p:nvPr>
        </p:nvSpPr>
        <p:spPr>
          <a:xfrm>
            <a:off x="6478524" y="2962656"/>
            <a:ext cx="20231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45</a:t>
            </a:r>
            <a:endParaRPr lang="en-US" sz="3800" dirty="0"/>
          </a:p>
        </p:txBody>
      </p:sp>
      <p:sp>
        <p:nvSpPr>
          <p:cNvPr id="19" name="Text 11"/>
          <p:cNvSpPr/>
          <p:nvPr>
            <p:ph idx="121" type="body" hasCustomPrompt="1"/>
          </p:nvPr>
        </p:nvSpPr>
        <p:spPr>
          <a:xfrm>
            <a:off x="6478524" y="3767328"/>
            <a:ext cx="2023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дней жизни MVP</a:t>
            </a:r>
            <a:endParaRPr lang="en-US" sz="1400" dirty="0"/>
          </a:p>
        </p:txBody>
      </p:sp>
      <p:sp>
        <p:nvSpPr>
          <p:cNvPr id="20" name="Text 11"/>
          <p:cNvSpPr/>
          <p:nvPr>
            <p:ph idx="122" type="body" hasCustomPrompt="1"/>
          </p:nvPr>
        </p:nvSpPr>
        <p:spPr>
          <a:xfrm>
            <a:off x="6478524" y="4114800"/>
            <a:ext cx="20231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ритуал заложен с первого дня</a:t>
            </a:r>
            <a:endParaRPr lang="en-US" sz="1200" dirty="0"/>
          </a:p>
        </p:txBody>
      </p:sp>
      <p:sp>
        <p:nvSpPr>
          <p:cNvPr id="21" name="Text 11"/>
          <p:cNvSpPr/>
          <p:nvPr>
            <p:ph idx="123" type="body" hasCustomPrompt="1"/>
          </p:nvPr>
        </p:nvSpPr>
        <p:spPr>
          <a:xfrm>
            <a:off x="9269730" y="2962656"/>
            <a:ext cx="20231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90</a:t>
            </a:r>
            <a:endParaRPr lang="en-US" sz="3800" dirty="0"/>
          </a:p>
        </p:txBody>
      </p:sp>
      <p:sp>
        <p:nvSpPr>
          <p:cNvPr id="22" name="Text 11"/>
          <p:cNvSpPr/>
          <p:nvPr>
            <p:ph idx="124" type="body" hasCustomPrompt="1"/>
          </p:nvPr>
        </p:nvSpPr>
        <p:spPr>
          <a:xfrm>
            <a:off x="9269730" y="3767328"/>
            <a:ext cx="2023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обновлениями</a:t>
            </a:r>
            <a:endParaRPr lang="en-US" sz="1400" dirty="0"/>
          </a:p>
        </p:txBody>
      </p:sp>
      <p:sp>
        <p:nvSpPr>
          <p:cNvPr id="23" name="Text 11"/>
          <p:cNvSpPr/>
          <p:nvPr>
            <p:ph idx="125" type="body" hasCustomPrompt="1"/>
          </p:nvPr>
        </p:nvSpPr>
        <p:spPr>
          <a:xfrm>
            <a:off x="9269730" y="4114800"/>
            <a:ext cx="20231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комбинаторика и второй кот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25" name="Text 11"/>
          <p:cNvSpPr/>
          <p:nvPr>
            <p:ph idx="126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 и потребление сходятся в ноль.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Игрок съедает 8 гэгов в месяц, конвейер выдаёт столько же — обновление стартует в день релиза.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4_dovol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8"/>
          <p:cNvSpPr/>
          <p:nvPr>
            <p:ph idx="108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100" dirty="0"/>
          </a:p>
        </p:txBody>
      </p:sp>
      <p:sp>
        <p:nvSpPr>
          <p:cNvPr id="10" name="Text 8"/>
          <p:cNvSpPr/>
          <p:nvPr>
            <p:ph idx="109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Второй кот: не покупка, а история</a:t>
            </a:r>
            <a:endParaRPr lang="en-US" sz="3300" dirty="0"/>
          </a:p>
        </p:txBody>
      </p:sp>
      <p:sp>
        <p:nvSpPr>
          <p:cNvPr id="11" name="Text 8"/>
          <p:cNvSpPr/>
          <p:nvPr>
            <p:ph idx="110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самый, что остался под фонарём на стартовом экране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41248" y="278892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89864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>
            <p:ph idx="111" type="body" hasCustomPrompt="1"/>
          </p:nvPr>
        </p:nvSpPr>
        <p:spPr>
          <a:xfrm>
            <a:off x="1463040" y="280720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15 — тизер</a:t>
            </a:r>
            <a:endParaRPr lang="en-US" sz="1400" dirty="0"/>
          </a:p>
        </p:txBody>
      </p:sp>
      <p:sp>
        <p:nvSpPr>
          <p:cNvPr id="15" name="Text 8"/>
          <p:cNvSpPr/>
          <p:nvPr>
            <p:ph idx="112" type="body" hasCustomPrompt="1"/>
          </p:nvPr>
        </p:nvSpPr>
        <p:spPr>
          <a:xfrm>
            <a:off x="4480560" y="28072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Ночью что-то стучит в окно; утром на подоконнике лежит чужая вещь. Бот: «Это не моё. Но теперь моё»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41248" y="348386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593592"/>
            <a:ext cx="219456" cy="219456"/>
          </a:xfrm>
          <a:prstGeom prst="rect">
            <a:avLst/>
          </a:prstGeom>
        </p:spPr>
      </p:pic>
      <p:sp>
        <p:nvSpPr>
          <p:cNvPr id="18" name="Text 8"/>
          <p:cNvSpPr/>
          <p:nvPr>
            <p:ph idx="113" type="body" hasCustomPrompt="1"/>
          </p:nvPr>
        </p:nvSpPr>
        <p:spPr>
          <a:xfrm>
            <a:off x="1463040" y="350215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Приглашение</a:t>
            </a:r>
            <a:endParaRPr lang="en-US" sz="1400" dirty="0"/>
          </a:p>
        </p:txBody>
      </p:sp>
      <p:sp>
        <p:nvSpPr>
          <p:cNvPr id="19" name="Text 8"/>
          <p:cNvSpPr/>
          <p:nvPr>
            <p:ph idx="114" type="body" hasCustomPrompt="1"/>
          </p:nvPr>
        </p:nvSpPr>
        <p:spPr>
          <a:xfrm>
            <a:off x="4480560" y="3502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Кто-то мяукает под дверью в дождь. Появляется действие «оставить еду за дверью»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41248" y="417880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288536"/>
            <a:ext cx="219456" cy="219456"/>
          </a:xfrm>
          <a:prstGeom prst="rect">
            <a:avLst/>
          </a:prstGeom>
        </p:spPr>
      </p:pic>
      <p:sp>
        <p:nvSpPr>
          <p:cNvPr id="22" name="Text 8"/>
          <p:cNvSpPr/>
          <p:nvPr>
            <p:ph idx="115" type="body" hasCustomPrompt="1"/>
          </p:nvPr>
        </p:nvSpPr>
        <p:spPr>
          <a:xfrm>
            <a:off x="1463040" y="41970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— три дня</a:t>
            </a:r>
            <a:endParaRPr lang="en-US" sz="1400" dirty="0"/>
          </a:p>
        </p:txBody>
      </p:sp>
      <p:sp>
        <p:nvSpPr>
          <p:cNvPr id="23" name="Text 8"/>
          <p:cNvSpPr/>
          <p:nvPr>
            <p:ph idx="116" type="body" hasCustomPrompt="1"/>
          </p:nvPr>
        </p:nvSpPr>
        <p:spPr>
          <a:xfrm>
            <a:off x="4480560" y="419709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Еда исчезает, но кот не заходит. Еда получше за рыбки ускоряет на день: продаём нетерпение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4809744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3A3355"/>
          </a:solidFill>
          <a:ln/>
        </p:spPr>
      </p:sp>
      <p:sp>
        <p:nvSpPr>
          <p:cNvPr id="25" name="Shape 18"/>
          <p:cNvSpPr/>
          <p:nvPr/>
        </p:nvSpPr>
        <p:spPr>
          <a:xfrm>
            <a:off x="841248" y="487375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E8963C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983480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463040" y="48920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Живут вместе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480560" y="489204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Двое в одной коробке, спор за миску, редкое «спят вместе». Шкала дружбы растёт от совместных кормёжек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841248" y="556869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5678424"/>
            <a:ext cx="219456" cy="219456"/>
          </a:xfrm>
          <a:prstGeom prst="rect">
            <a:avLst/>
          </a:prstGeom>
        </p:spPr>
      </p:pic>
      <p:sp>
        <p:nvSpPr>
          <p:cNvPr id="31" name="Text 8"/>
          <p:cNvSpPr/>
          <p:nvPr>
            <p:ph idx="119" type="body" hasCustomPrompt="1"/>
          </p:nvPr>
        </p:nvSpPr>
        <p:spPr>
          <a:xfrm>
            <a:off x="1463040" y="55869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половина контента</a:t>
            </a:r>
            <a:endParaRPr lang="en-US" sz="1400" dirty="0"/>
          </a:p>
        </p:txBody>
      </p:sp>
      <p:sp>
        <p:nvSpPr>
          <p:cNvPr id="32" name="Text 8"/>
          <p:cNvSpPr/>
          <p:nvPr>
            <p:ph idx="120" type="body" hasCustomPrompt="1"/>
          </p:nvPr>
        </p:nvSpPr>
        <p:spPr>
          <a:xfrm>
            <a:off x="4480560" y="558698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нарисованный объект получает парный вариант события — без единого нового предмета</a:t>
            </a:r>
            <a:endParaRPr lang="en-US" sz="1300" dirty="0"/>
          </a:p>
        </p:txBody>
      </p:sp>
      <p:sp>
        <p:nvSpPr>
          <p:cNvPr id="33" name="Text 8"/>
          <p:cNvSpPr/>
          <p:nvPr>
            <p:ph idx="117" type="body" hasCustomPrompt="1"/>
          </p:nvPr>
        </p:nvSpPr>
        <p:spPr>
          <a:xfrm>
            <a:off x="1463040" y="48920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4" name="Text 8"/>
          <p:cNvSpPr/>
          <p:nvPr>
            <p:ph idx="118" type="body" hasCustomPrompt="1"/>
          </p:nvPr>
        </p:nvSpPr>
        <p:spPr>
          <a:xfrm>
            <a:off x="4480560" y="489204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5_shkod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Арт-стиль и первый концепт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Умеренно милый ретро-пиксель, изометрия с двумя задними стенками</a:t>
            </a:r>
            <a:endParaRPr lang="en-US" sz="1500" dirty="0"/>
          </a:p>
        </p:txBody>
      </p:sp>
      <p:pic>
        <p:nvPicPr>
          <p:cNvPr id="12" name="Image 2" descr="room_conce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64" y="2807208"/>
            <a:ext cx="1781233" cy="3163824"/>
          </a:xfrm>
          <a:prstGeom prst="rect">
            <a:avLst/>
          </a:prstGeom>
        </p:spPr>
      </p:pic>
      <p:sp>
        <p:nvSpPr>
          <p:cNvPr id="13" name="Text 9"/>
          <p:cNvSpPr/>
          <p:nvPr>
            <p:ph idx="113" type="body" hasCustomPrompt="1"/>
          </p:nvPr>
        </p:nvSpPr>
        <p:spPr>
          <a:xfrm>
            <a:off x="379476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фиксируем</a:t>
            </a:r>
            <a:endParaRPr lang="en-US" sz="1350" dirty="0"/>
          </a:p>
        </p:txBody>
      </p:sp>
      <p:sp>
        <p:nvSpPr>
          <p:cNvPr id="14" name="Text 9"/>
          <p:cNvSpPr/>
          <p:nvPr>
            <p:ph idx="114" type="body" hasCustomPrompt="1"/>
          </p:nvPr>
        </p:nvSpPr>
        <p:spPr>
          <a:xfrm>
            <a:off x="3794760" y="3044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Тёплый вечерний свет, дождь за окном, точки-лапки, шкала настроения мордой кота</a:t>
            </a:r>
            <a:endParaRPr lang="en-US" sz="1200" dirty="0"/>
          </a:p>
        </p:txBody>
      </p:sp>
      <p:sp>
        <p:nvSpPr>
          <p:cNvPr id="15" name="Text 9"/>
          <p:cNvSpPr/>
          <p:nvPr>
            <p:ph idx="115" type="body" hasCustomPrompt="1"/>
          </p:nvPr>
        </p:nvSpPr>
        <p:spPr>
          <a:xfrm>
            <a:off x="3794760" y="3685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правим</a:t>
            </a:r>
            <a:endParaRPr lang="en-US" sz="1350" dirty="0"/>
          </a:p>
        </p:txBody>
      </p:sp>
      <p:sp>
        <p:nvSpPr>
          <p:cNvPr id="16" name="Text 9"/>
          <p:cNvSpPr/>
          <p:nvPr>
            <p:ph idx="116" type="body" hasCustomPrompt="1"/>
          </p:nvPr>
        </p:nvSpPr>
        <p:spPr>
          <a:xfrm>
            <a:off x="3794760" y="39410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Показываем две-три активные точки вместо всех; убираем слёзы — грусть с достоинством</a:t>
            </a:r>
            <a:endParaRPr lang="en-US" sz="1200" dirty="0"/>
          </a:p>
        </p:txBody>
      </p:sp>
      <p:sp>
        <p:nvSpPr>
          <p:cNvPr id="17" name="Text 9"/>
          <p:cNvSpPr/>
          <p:nvPr>
            <p:ph idx="117" type="body" hasCustomPrompt="1"/>
          </p:nvPr>
        </p:nvSpPr>
        <p:spPr>
          <a:xfrm>
            <a:off x="3794760" y="45811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валюта</a:t>
            </a:r>
            <a:endParaRPr lang="en-US" sz="1350" dirty="0"/>
          </a:p>
        </p:txBody>
      </p:sp>
      <p:sp>
        <p:nvSpPr>
          <p:cNvPr id="18" name="Text 9"/>
          <p:cNvSpPr/>
          <p:nvPr>
            <p:ph idx="118" type="body" hasCustomPrompt="1"/>
          </p:nvPr>
        </p:nvSpPr>
        <p:spPr>
          <a:xfrm>
            <a:off x="3794760" y="48371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счётчик убираем, кнопки панели приводим к единому стилю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520440" y="5385816"/>
            <a:ext cx="8028432" cy="768096"/>
          </a:xfrm>
          <a:prstGeom prst="roundRect">
            <a:avLst>
              <a:gd name="adj" fmla="val 9524"/>
            </a:avLst>
          </a:prstGeom>
          <a:solidFill>
            <a:srgbClr val="3A3355"/>
          </a:solidFill>
          <a:ln/>
        </p:spPr>
      </p:sp>
      <p:sp>
        <p:nvSpPr>
          <p:cNvPr id="20" name="Text 15"/>
          <p:cNvSpPr/>
          <p:nvPr/>
        </p:nvSpPr>
        <p:spPr>
          <a:xfrm>
            <a:off x="3794760" y="54772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Пайплайн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3794760" y="57332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Черновики генерируем нейросетями по готовым промтам, дорабатываем вручную в Aseprite</a:t>
            </a:r>
            <a:endParaRPr lang="en-US" sz="1200" dirty="0"/>
          </a:p>
        </p:txBody>
      </p:sp>
      <p:sp>
        <p:nvSpPr>
          <p:cNvPr id="22" name="Text 9"/>
          <p:cNvSpPr/>
          <p:nvPr>
            <p:ph idx="112" hasCustomPrompt="1"/>
          </p:nvPr>
        </p:nvSpPr>
        <p:spPr>
          <a:xfrm>
            <a:off x="749808" y="2807208"/>
            <a:ext cx="2066544" cy="316382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9"/>
          <p:cNvSpPr/>
          <p:nvPr>
            <p:ph idx="119" type="body" hasCustomPrompt="1"/>
          </p:nvPr>
        </p:nvSpPr>
        <p:spPr>
          <a:xfrm>
            <a:off x="3794760" y="54772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24" name="Text 9"/>
          <p:cNvSpPr/>
          <p:nvPr>
            <p:ph idx="120" type="body" hasCustomPrompt="1"/>
          </p:nvPr>
        </p:nvSpPr>
        <p:spPr>
          <a:xfrm>
            <a:off x="3794760" y="57332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Анимации и управление котом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риг на двоих: различается только внешность и параметры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Пятнадцать анимаций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Покой, шаг, бег, прыжок с приседанием, реакции на ласку и еду. Около ста кадров на риг.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Тяжесть — это параметр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Батон медленнее и ниже прыгает, Шило быстрее и выше. Кадры те же, меняются скорость и дуга.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Морда — отдельный слой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состояний подменяются поверх головы, поэтому любая анимация играется с любым настроением.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25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одним пальцем.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Тап по полу — идти, тап по коту — погладить, тап по предмету — событие, оттяжка — прыжок.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8"/>
          <p:cNvSpPr/>
          <p:nvPr>
            <p:ph idx="108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100" dirty="0"/>
          </a:p>
        </p:txBody>
      </p:sp>
      <p:sp>
        <p:nvSpPr>
          <p:cNvPr id="10" name="Text 8"/>
          <p:cNvSpPr/>
          <p:nvPr>
            <p:ph idx="109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Технологии</a:t>
            </a:r>
            <a:endParaRPr lang="en-US" sz="3300" dirty="0"/>
          </a:p>
        </p:txBody>
      </p:sp>
      <p:sp>
        <p:nvSpPr>
          <p:cNvPr id="11" name="Text 8"/>
          <p:cNvSpPr/>
          <p:nvPr>
            <p:ph idx="110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 и дёшево: один код на веб и Telegram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41248" y="278892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89864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>
            <p:ph idx="111" type="body" hasCustomPrompt="1"/>
          </p:nvPr>
        </p:nvSpPr>
        <p:spPr>
          <a:xfrm>
            <a:off x="1463040" y="280720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400" dirty="0"/>
          </a:p>
        </p:txBody>
      </p:sp>
      <p:sp>
        <p:nvSpPr>
          <p:cNvPr id="15" name="Text 8"/>
          <p:cNvSpPr/>
          <p:nvPr>
            <p:ph idx="112" type="body" hasCustomPrompt="1"/>
          </p:nvPr>
        </p:nvSpPr>
        <p:spPr>
          <a:xfrm>
            <a:off x="4480560" y="28072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Phaser 3, мобильный портрет, бандл до 5 МБ с догрузкой ассетов, 60 кадров на среднем Android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419856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3A3355"/>
          </a:solidFill>
          <a:ln/>
        </p:spPr>
      </p:sp>
      <p:sp>
        <p:nvSpPr>
          <p:cNvPr id="17" name="Shape 12"/>
          <p:cNvSpPr/>
          <p:nvPr/>
        </p:nvSpPr>
        <p:spPr>
          <a:xfrm>
            <a:off x="841248" y="348386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E8963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59359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50215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Mini App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480560" y="3502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билд в обёртке WebApp SDK: авторизация по ID, платежи Stars, тактильный отклик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41248" y="417880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288536"/>
            <a:ext cx="219456" cy="219456"/>
          </a:xfrm>
          <a:prstGeom prst="rect">
            <a:avLst/>
          </a:prstGeom>
        </p:spPr>
      </p:pic>
      <p:sp>
        <p:nvSpPr>
          <p:cNvPr id="23" name="Text 8"/>
          <p:cNvSpPr/>
          <p:nvPr>
            <p:ph idx="115" type="body" hasCustomPrompt="1"/>
          </p:nvPr>
        </p:nvSpPr>
        <p:spPr>
          <a:xfrm>
            <a:off x="1463040" y="41970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</a:t>
            </a:r>
            <a:endParaRPr lang="en-US" sz="1400" dirty="0"/>
          </a:p>
        </p:txBody>
      </p:sp>
      <p:sp>
        <p:nvSpPr>
          <p:cNvPr id="24" name="Text 8"/>
          <p:cNvSpPr/>
          <p:nvPr>
            <p:ph idx="116" type="body" hasCustomPrompt="1"/>
          </p:nvPr>
        </p:nvSpPr>
        <p:spPr>
          <a:xfrm>
            <a:off x="4480560" y="419709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и PostgreSQL: профили, состояние комнаты и слотов, идемпотентные покупки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41248" y="487375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983480"/>
            <a:ext cx="219456" cy="219456"/>
          </a:xfrm>
          <a:prstGeom prst="rect">
            <a:avLst/>
          </a:prstGeom>
        </p:spPr>
      </p:pic>
      <p:sp>
        <p:nvSpPr>
          <p:cNvPr id="27" name="Text 8"/>
          <p:cNvSpPr/>
          <p:nvPr>
            <p:ph idx="117" type="body" hasCustomPrompt="1"/>
          </p:nvPr>
        </p:nvSpPr>
        <p:spPr>
          <a:xfrm>
            <a:off x="1463040" y="48920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Офлайн-логика</a:t>
            </a:r>
            <a:endParaRPr lang="en-US" sz="1400" dirty="0"/>
          </a:p>
        </p:txBody>
      </p:sp>
      <p:sp>
        <p:nvSpPr>
          <p:cNvPr id="28" name="Text 8"/>
          <p:cNvSpPr/>
          <p:nvPr>
            <p:ph idx="118" type="body" hasCustomPrompt="1"/>
          </p:nvPr>
        </p:nvSpPr>
        <p:spPr>
          <a:xfrm>
            <a:off x="4480560" y="489204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кота пересчитывается на сервере от таймстампа последнего визита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841248" y="556869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5678424"/>
            <a:ext cx="219456" cy="219456"/>
          </a:xfrm>
          <a:prstGeom prst="rect">
            <a:avLst/>
          </a:prstGeom>
        </p:spPr>
      </p:pic>
      <p:sp>
        <p:nvSpPr>
          <p:cNvPr id="31" name="Text 8"/>
          <p:cNvSpPr/>
          <p:nvPr>
            <p:ph idx="119" type="body" hasCustomPrompt="1"/>
          </p:nvPr>
        </p:nvSpPr>
        <p:spPr>
          <a:xfrm>
            <a:off x="1463040" y="55869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 деплой</a:t>
            </a:r>
            <a:endParaRPr lang="en-US" sz="1400" dirty="0"/>
          </a:p>
        </p:txBody>
      </p:sp>
      <p:sp>
        <p:nvSpPr>
          <p:cNvPr id="32" name="Text 8"/>
          <p:cNvSpPr/>
          <p:nvPr>
            <p:ph idx="120" type="body" hasCustomPrompt="1"/>
          </p:nvPr>
        </p:nvSpPr>
        <p:spPr>
          <a:xfrm>
            <a:off x="4480560" y="558698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PostHog на бесплатном тарифе. GitHub, Vercel или Cloudflare Pages, Railway</a:t>
            </a:r>
            <a:endParaRPr lang="en-US" sz="1300" dirty="0"/>
          </a:p>
        </p:txBody>
      </p:sp>
      <p:sp>
        <p:nvSpPr>
          <p:cNvPr id="33" name="Text 8"/>
          <p:cNvSpPr/>
          <p:nvPr>
            <p:ph idx="113" type="body" hasCustomPrompt="1"/>
          </p:nvPr>
        </p:nvSpPr>
        <p:spPr>
          <a:xfrm>
            <a:off x="1463040" y="350215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4" name="Text 8"/>
          <p:cNvSpPr/>
          <p:nvPr>
            <p:ph idx="114" type="body" hasCustomPrompt="1"/>
          </p:nvPr>
        </p:nvSpPr>
        <p:spPr>
          <a:xfrm>
            <a:off x="4480560" y="3502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5_shkod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 мини-игр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в MVP, две — в очереди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«Шкаф» — в MVP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Слингшот-прыжки по полкам с ротацией раскладок. Управление одним пальцем, промахи превращаются в гэги.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«Скинь всё со стола»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Тапалка на время: кот бежит по столу, хрупкие предметы дают комбо. Уходит в первое обновление.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«Три в ряд» с суперударом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Ряды заряжают шкалу энергии. Батон плюхается пузом и сносит область, Шило проносится и сносит строку.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25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«Три в ряд».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Сессии длиннее, а ролики с суперударом кота — самый конверсионный формат рекламных креативов.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251460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07 ИЗ 07</a:t>
            </a:r>
            <a:endParaRPr lang="en-US" sz="12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2468880" y="2286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Запуск</a:t>
            </a:r>
            <a:endParaRPr lang="en-US" sz="4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2514600" y="34015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Метрики, команда, сроки и продвижение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51460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4"/>
          <p:cNvSpPr/>
          <p:nvPr/>
        </p:nvSpPr>
        <p:spPr>
          <a:xfrm>
            <a:off x="333756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5"/>
          <p:cNvSpPr/>
          <p:nvPr/>
        </p:nvSpPr>
        <p:spPr>
          <a:xfrm>
            <a:off x="416052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8" name="Shape 6"/>
          <p:cNvSpPr/>
          <p:nvPr/>
        </p:nvSpPr>
        <p:spPr>
          <a:xfrm>
            <a:off x="498348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9" name="Shape 7"/>
          <p:cNvSpPr/>
          <p:nvPr/>
        </p:nvSpPr>
        <p:spPr>
          <a:xfrm>
            <a:off x="580644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11" name="Shape 9"/>
          <p:cNvSpPr/>
          <p:nvPr/>
        </p:nvSpPr>
        <p:spPr>
          <a:xfrm>
            <a:off x="7452360" y="4343400"/>
            <a:ext cx="777240" cy="23774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презентации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56" y="4288536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3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5_shkod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11"/>
          <p:cNvSpPr/>
          <p:nvPr>
            <p:ph idx="111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100" dirty="0"/>
          </a:p>
        </p:txBody>
      </p:sp>
      <p:sp>
        <p:nvSpPr>
          <p:cNvPr id="10" name="Text 11"/>
          <p:cNvSpPr/>
          <p:nvPr>
            <p:ph idx="112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Метрики успеха MVP</a:t>
            </a:r>
            <a:endParaRPr lang="en-US" sz="3300" dirty="0"/>
          </a:p>
        </p:txBody>
      </p:sp>
      <p:sp>
        <p:nvSpPr>
          <p:cNvPr id="11" name="Text 11"/>
          <p:cNvSpPr/>
          <p:nvPr>
            <p:ph idx="113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подтверждаем ретеншен, потом занимаемся деньгами</a:t>
            </a:r>
            <a:endParaRPr lang="en-US" sz="1500" dirty="0"/>
          </a:p>
        </p:txBody>
      </p:sp>
      <p:sp>
        <p:nvSpPr>
          <p:cNvPr id="12" name="Text 11"/>
          <p:cNvSpPr/>
          <p:nvPr>
            <p:ph idx="114" type="body" hasCustomPrompt="1"/>
          </p:nvPr>
        </p:nvSpPr>
        <p:spPr>
          <a:xfrm>
            <a:off x="896112" y="2962656"/>
            <a:ext cx="20231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3+</a:t>
            </a:r>
            <a:endParaRPr lang="en-US" sz="3800" dirty="0"/>
          </a:p>
        </p:txBody>
      </p:sp>
      <p:sp>
        <p:nvSpPr>
          <p:cNvPr id="13" name="Text 11"/>
          <p:cNvSpPr/>
          <p:nvPr>
            <p:ph idx="115" type="body" hasCustomPrompt="1"/>
          </p:nvPr>
        </p:nvSpPr>
        <p:spPr>
          <a:xfrm>
            <a:off x="896112" y="3767328"/>
            <a:ext cx="2023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захода в неделю</a:t>
            </a:r>
            <a:endParaRPr lang="en-US" sz="1400" dirty="0"/>
          </a:p>
        </p:txBody>
      </p:sp>
      <p:sp>
        <p:nvSpPr>
          <p:cNvPr id="14" name="Text 11"/>
          <p:cNvSpPr/>
          <p:nvPr>
            <p:ph idx="116" type="body" hasCustomPrompt="1"/>
          </p:nvPr>
        </p:nvSpPr>
        <p:spPr>
          <a:xfrm>
            <a:off x="896112" y="4114800"/>
            <a:ext cx="20231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на седьмой день — от 25%</a:t>
            </a:r>
            <a:endParaRPr lang="en-US" sz="1200" dirty="0"/>
          </a:p>
        </p:txBody>
      </p:sp>
      <p:sp>
        <p:nvSpPr>
          <p:cNvPr id="15" name="Text 11"/>
          <p:cNvSpPr/>
          <p:nvPr>
            <p:ph idx="117" type="body" hasCustomPrompt="1"/>
          </p:nvPr>
        </p:nvSpPr>
        <p:spPr>
          <a:xfrm>
            <a:off x="3687318" y="2962656"/>
            <a:ext cx="20231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мин</a:t>
            </a:r>
            <a:endParaRPr lang="en-US" sz="3800" dirty="0"/>
          </a:p>
        </p:txBody>
      </p:sp>
      <p:sp>
        <p:nvSpPr>
          <p:cNvPr id="16" name="Text 11"/>
          <p:cNvSpPr/>
          <p:nvPr>
            <p:ph idx="118" type="body" hasCustomPrompt="1"/>
          </p:nvPr>
        </p:nvSpPr>
        <p:spPr>
          <a:xfrm>
            <a:off x="3687318" y="3767328"/>
            <a:ext cx="2023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сессию</a:t>
            </a:r>
            <a:endParaRPr lang="en-US" sz="1400" dirty="0"/>
          </a:p>
        </p:txBody>
      </p:sp>
      <p:sp>
        <p:nvSpPr>
          <p:cNvPr id="17" name="Text 11"/>
          <p:cNvSpPr/>
          <p:nvPr>
            <p:ph idx="119" type="body" hasCustomPrompt="1"/>
          </p:nvPr>
        </p:nvSpPr>
        <p:spPr>
          <a:xfrm>
            <a:off x="3687318" y="4114800"/>
            <a:ext cx="20231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не меньше трёх гэг-событий за заход</a:t>
            </a:r>
            <a:endParaRPr lang="en-US" sz="1200" dirty="0"/>
          </a:p>
        </p:txBody>
      </p:sp>
      <p:sp>
        <p:nvSpPr>
          <p:cNvPr id="18" name="Text 11"/>
          <p:cNvSpPr/>
          <p:nvPr>
            <p:ph idx="120" type="body" hasCustomPrompt="1"/>
          </p:nvPr>
        </p:nvSpPr>
        <p:spPr>
          <a:xfrm>
            <a:off x="6478524" y="2962656"/>
            <a:ext cx="20231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800" dirty="0"/>
          </a:p>
        </p:txBody>
      </p:sp>
      <p:sp>
        <p:nvSpPr>
          <p:cNvPr id="19" name="Text 11"/>
          <p:cNvSpPr/>
          <p:nvPr>
            <p:ph idx="121" type="body" hasCustomPrompt="1"/>
          </p:nvPr>
        </p:nvSpPr>
        <p:spPr>
          <a:xfrm>
            <a:off x="6478524" y="3767328"/>
            <a:ext cx="2023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на бота</a:t>
            </a:r>
            <a:endParaRPr lang="en-US" sz="1400" dirty="0"/>
          </a:p>
        </p:txBody>
      </p:sp>
      <p:sp>
        <p:nvSpPr>
          <p:cNvPr id="20" name="Text 11"/>
          <p:cNvSpPr/>
          <p:nvPr>
            <p:ph idx="122" type="body" hasCustomPrompt="1"/>
          </p:nvPr>
        </p:nvSpPr>
        <p:spPr>
          <a:xfrm>
            <a:off x="6478524" y="4114800"/>
            <a:ext cx="20231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переходы из утренних сообщений — от 25%</a:t>
            </a:r>
            <a:endParaRPr lang="en-US" sz="1200" dirty="0"/>
          </a:p>
        </p:txBody>
      </p:sp>
      <p:sp>
        <p:nvSpPr>
          <p:cNvPr id="21" name="Text 11"/>
          <p:cNvSpPr/>
          <p:nvPr>
            <p:ph idx="123" type="body" hasCustomPrompt="1"/>
          </p:nvPr>
        </p:nvSpPr>
        <p:spPr>
          <a:xfrm>
            <a:off x="9269730" y="2962656"/>
            <a:ext cx="20231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800" dirty="0"/>
          </a:p>
        </p:txBody>
      </p:sp>
      <p:sp>
        <p:nvSpPr>
          <p:cNvPr id="22" name="Text 11"/>
          <p:cNvSpPr/>
          <p:nvPr>
            <p:ph idx="124" type="body" hasCustomPrompt="1"/>
          </p:nvPr>
        </p:nvSpPr>
        <p:spPr>
          <a:xfrm>
            <a:off x="9269730" y="3767328"/>
            <a:ext cx="2023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доходят до первого гэга</a:t>
            </a:r>
            <a:endParaRPr lang="en-US" sz="1400" dirty="0"/>
          </a:p>
        </p:txBody>
      </p:sp>
      <p:sp>
        <p:nvSpPr>
          <p:cNvPr id="23" name="Text 11"/>
          <p:cNvSpPr/>
          <p:nvPr>
            <p:ph idx="125" type="body" hasCustomPrompt="1"/>
          </p:nvPr>
        </p:nvSpPr>
        <p:spPr>
          <a:xfrm>
            <a:off x="9269730" y="4114800"/>
            <a:ext cx="20231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онбординга за первые 90 секунд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25" name="Text 11"/>
          <p:cNvSpPr/>
          <p:nvPr>
            <p:ph idx="126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Конверсию в первую покупку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смотрим (цель 2%), но решения по экономике принимаем только после подтверждения ретеншена.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4_dovol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3"/>
          <p:cNvSpPr/>
          <p:nvPr>
            <p:ph idx="103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100" dirty="0"/>
          </a:p>
        </p:txBody>
      </p:sp>
      <p:sp>
        <p:nvSpPr>
          <p:cNvPr id="10" name="Text 3"/>
          <p:cNvSpPr/>
          <p:nvPr>
            <p:ph idx="104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 и план на 12 недель</a:t>
            </a:r>
            <a:endParaRPr lang="en-US" sz="3300" dirty="0"/>
          </a:p>
        </p:txBody>
      </p:sp>
      <p:sp>
        <p:nvSpPr>
          <p:cNvPr id="11" name="Text 3"/>
          <p:cNvSpPr/>
          <p:nvPr>
            <p:ph idx="105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Делаем своими силами с нейросетями, при затыке нанимаем точечно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49808" y="2807208"/>
            <a:ext cx="5029200" cy="2834640"/>
          </a:xfrm>
          <a:prstGeom prst="roundRect">
            <a:avLst>
              <a:gd name="adj" fmla="val 3226"/>
            </a:avLst>
          </a:prstGeom>
          <a:solidFill>
            <a:srgbClr val="D9D0C0"/>
          </a:solidFill>
          <a:ln/>
        </p:spPr>
      </p:sp>
      <p:sp>
        <p:nvSpPr>
          <p:cNvPr id="13" name="Shape 9"/>
          <p:cNvSpPr/>
          <p:nvPr/>
        </p:nvSpPr>
        <p:spPr>
          <a:xfrm>
            <a:off x="640080" y="2697480"/>
            <a:ext cx="50292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Роли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914400" y="3310128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Продюсер —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видение, приоритеты, бюджет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Геймдизайн и сценарий —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механики, экономика, гэги, тексты бота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 и анимация —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черновики нейросетями, доводка вручную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—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клиент, бэкенд и бот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—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каналы, контент, запуск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80760" y="2697480"/>
            <a:ext cx="914400" cy="402336"/>
          </a:xfrm>
          <a:prstGeom prst="roundRect">
            <a:avLst>
              <a:gd name="adj" fmla="val 15909"/>
            </a:avLst>
          </a:prstGeom>
          <a:solidFill>
            <a:srgbClr val="3A3355"/>
          </a:solidFill>
          <a:ln/>
        </p:spPr>
      </p:sp>
      <p:sp>
        <p:nvSpPr>
          <p:cNvPr id="17" name="Text 13"/>
          <p:cNvSpPr/>
          <p:nvPr/>
        </p:nvSpPr>
        <p:spPr>
          <a:xfrm>
            <a:off x="6080760" y="2761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Н1–2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178040" y="27340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Прототип: кот ходит и прыгает, один гэг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080760" y="3182112"/>
            <a:ext cx="914400" cy="402336"/>
          </a:xfrm>
          <a:prstGeom prst="roundRect">
            <a:avLst>
              <a:gd name="adj" fmla="val 15909"/>
            </a:avLst>
          </a:prstGeom>
          <a:solidFill>
            <a:srgbClr val="3A3355"/>
          </a:solidFill>
          <a:ln/>
        </p:spPr>
      </p:sp>
      <p:sp>
        <p:nvSpPr>
          <p:cNvPr id="20" name="Text 16"/>
          <p:cNvSpPr/>
          <p:nvPr/>
        </p:nvSpPr>
        <p:spPr>
          <a:xfrm>
            <a:off x="6080760" y="32461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Н3–4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178040" y="3218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Арт-стиль и конвейер анимаций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080760" y="3666744"/>
            <a:ext cx="914400" cy="402336"/>
          </a:xfrm>
          <a:prstGeom prst="roundRect">
            <a:avLst>
              <a:gd name="adj" fmla="val 15909"/>
            </a:avLst>
          </a:prstGeom>
          <a:solidFill>
            <a:srgbClr val="3A3355"/>
          </a:solidFill>
          <a:ln/>
        </p:spPr>
      </p:sp>
      <p:sp>
        <p:nvSpPr>
          <p:cNvPr id="23" name="Text 19"/>
          <p:cNvSpPr/>
          <p:nvPr/>
        </p:nvSpPr>
        <p:spPr>
          <a:xfrm>
            <a:off x="6080760" y="37307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Н5–8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17804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Контент-спринты: гэги, магазин, слоты, экономика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080760" y="4151376"/>
            <a:ext cx="914400" cy="402336"/>
          </a:xfrm>
          <a:prstGeom prst="roundRect">
            <a:avLst>
              <a:gd name="adj" fmla="val 15909"/>
            </a:avLst>
          </a:prstGeom>
          <a:solidFill>
            <a:srgbClr val="3A3355"/>
          </a:solidFill>
          <a:ln/>
        </p:spPr>
      </p:sp>
      <p:sp>
        <p:nvSpPr>
          <p:cNvPr id="26" name="Text 22"/>
          <p:cNvSpPr/>
          <p:nvPr/>
        </p:nvSpPr>
        <p:spPr>
          <a:xfrm>
            <a:off x="6080760" y="4215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Н9–10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178040" y="41879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App, бот, платежи, аналитика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080760" y="4636008"/>
            <a:ext cx="914400" cy="402336"/>
          </a:xfrm>
          <a:prstGeom prst="roundRect">
            <a:avLst>
              <a:gd name="adj" fmla="val 15909"/>
            </a:avLst>
          </a:prstGeom>
          <a:solidFill>
            <a:srgbClr val="3A3355"/>
          </a:solidFill>
          <a:ln/>
        </p:spPr>
      </p:sp>
      <p:sp>
        <p:nvSpPr>
          <p:cNvPr id="29" name="Text 25"/>
          <p:cNvSpPr/>
          <p:nvPr/>
        </p:nvSpPr>
        <p:spPr>
          <a:xfrm>
            <a:off x="6080760" y="4700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Н11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178040" y="46725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Плейтест на 20–30 человек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6080760" y="5120640"/>
            <a:ext cx="914400" cy="402336"/>
          </a:xfrm>
          <a:prstGeom prst="roundRect">
            <a:avLst>
              <a:gd name="adj" fmla="val 15909"/>
            </a:avLst>
          </a:prstGeom>
          <a:solidFill>
            <a:srgbClr val="E8963C"/>
          </a:solidFill>
          <a:ln/>
        </p:spPr>
      </p:sp>
      <p:sp>
        <p:nvSpPr>
          <p:cNvPr id="32" name="Text 28"/>
          <p:cNvSpPr/>
          <p:nvPr/>
        </p:nvSpPr>
        <p:spPr>
          <a:xfrm>
            <a:off x="6080760" y="51846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Н12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178040" y="51572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Софт-запуск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2_ploh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Риски и пороги решений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места, где проект может встать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Анимации — узкое горлышко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Пайплайн фиксируем к четвёртой неделе. Меньше двух гэгов в неделю — нанимаем пиксель-аниматора.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Контентная яма на шестой неделе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 обновления стартует в день релиза MVP, а не когда метрики просядут.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Расползание скоупа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новое уходит в бэклог с первого дня. Один разработчик — значит документация и простой стек.</a:t>
            </a:r>
            <a:endParaRPr lang="en-US" sz="1300" dirty="0"/>
          </a:p>
        </p:txBody>
      </p:sp>
      <p:sp>
        <p:nvSpPr>
          <p:cNvPr id="24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5_shkod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9"/>
          <p:cNvSpPr/>
          <p:nvPr>
            <p:ph idx="109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100" dirty="0"/>
          </a:p>
        </p:txBody>
      </p:sp>
      <p:sp>
        <p:nvSpPr>
          <p:cNvPr id="10" name="Text 9"/>
          <p:cNvSpPr/>
          <p:nvPr>
            <p:ph idx="110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Продвижение с минимумом бюджета</a:t>
            </a:r>
            <a:endParaRPr lang="en-US" sz="3300" dirty="0"/>
          </a:p>
        </p:txBody>
      </p:sp>
      <p:sp>
        <p:nvSpPr>
          <p:cNvPr id="11" name="Text 9"/>
          <p:cNvSpPr/>
          <p:nvPr>
            <p:ph idx="111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сама производит маркетинг: каждый гэг — готовый вертикальный ролик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150108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>
            <p:ph idx="112" type="body" hasCustomPrompt="1"/>
          </p:nvPr>
        </p:nvSpPr>
        <p:spPr>
          <a:xfrm>
            <a:off x="914400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Короткие видео</a:t>
            </a:r>
            <a:endParaRPr lang="en-US" sz="17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914400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Три-пять роликов в неделю с пятой недели. Кот как персонаж-блогер: дневник кота, который живёт у программиста.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36008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96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150108"/>
            <a:ext cx="265176" cy="265176"/>
          </a:xfrm>
          <a:prstGeom prst="rect">
            <a:avLst/>
          </a:prstGeom>
        </p:spPr>
      </p:pic>
      <p:sp>
        <p:nvSpPr>
          <p:cNvPr id="18" name="Text 9"/>
          <p:cNvSpPr/>
          <p:nvPr>
            <p:ph idx="114" type="body" hasCustomPrompt="1"/>
          </p:nvPr>
        </p:nvSpPr>
        <p:spPr>
          <a:xfrm>
            <a:off x="4636008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Telegram-нативность</a:t>
            </a:r>
            <a:endParaRPr lang="en-US" sz="1700" dirty="0"/>
          </a:p>
        </p:txBody>
      </p:sp>
      <p:sp>
        <p:nvSpPr>
          <p:cNvPr id="19" name="Text 9"/>
          <p:cNvSpPr/>
          <p:nvPr>
            <p:ph idx="115" type="body" hasCustomPrompt="1"/>
          </p:nvPr>
        </p:nvSpPr>
        <p:spPr>
          <a:xfrm>
            <a:off x="4636008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Посевы в котиковых микроканалах, стикерпак из пяти морд и кнопка «поделиться» прямо из игры.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57616" y="30175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A33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3150108"/>
            <a:ext cx="265176" cy="265176"/>
          </a:xfrm>
          <a:prstGeom prst="rect">
            <a:avLst/>
          </a:prstGeom>
        </p:spPr>
      </p:pic>
      <p:sp>
        <p:nvSpPr>
          <p:cNvPr id="22" name="Text 9"/>
          <p:cNvSpPr/>
          <p:nvPr>
            <p:ph idx="116" type="body" hasCustomPrompt="1"/>
          </p:nvPr>
        </p:nvSpPr>
        <p:spPr>
          <a:xfrm>
            <a:off x="8357616" y="36576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Девлог и сообщества</a:t>
            </a:r>
            <a:endParaRPr lang="en-US" sz="1700" dirty="0"/>
          </a:p>
        </p:txBody>
      </p:sp>
      <p:sp>
        <p:nvSpPr>
          <p:cNvPr id="23" name="Text 9"/>
          <p:cNvSpPr/>
          <p:nvPr>
            <p:ph idx="117" type="body" hasCustomPrompt="1"/>
          </p:nvPr>
        </p:nvSpPr>
        <p:spPr>
          <a:xfrm>
            <a:off x="8357616" y="422452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Reddit, Pikabu, DTF: история «делаем игру про грустного кота вдвоём с нейросетями» виральна сама по себе.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5605272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3A3355"/>
          </a:solidFill>
          <a:ln/>
        </p:spPr>
      </p:sp>
      <p:sp>
        <p:nvSpPr>
          <p:cNvPr id="25" name="Text 9"/>
          <p:cNvSpPr/>
          <p:nvPr>
            <p:ph idx="118" type="body" hasCustomPrompt="1"/>
          </p:nvPr>
        </p:nvSpPr>
        <p:spPr>
          <a:xfrm>
            <a:off x="640080" y="56052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0–30 000 ₽ на посевы.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софт-запуска — от тысячи до трёх тысяч игроков, чтобы метрики стали значимыми.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3_pok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3DA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8"/>
          <p:cNvSpPr/>
          <p:nvPr>
            <p:ph idx="108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</a:t>
            </a:r>
            <a:endParaRPr lang="en-US" sz="1100" dirty="0"/>
          </a:p>
        </p:txBody>
      </p:sp>
      <p:sp>
        <p:nvSpPr>
          <p:cNvPr id="10" name="Text 8"/>
          <p:cNvSpPr/>
          <p:nvPr>
            <p:ph idx="109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Решения, которые нужны от команды</a:t>
            </a:r>
            <a:endParaRPr lang="en-US" sz="3300" dirty="0"/>
          </a:p>
        </p:txBody>
      </p:sp>
      <p:sp>
        <p:nvSpPr>
          <p:cNvPr id="11" name="Text 8"/>
          <p:cNvSpPr/>
          <p:nvPr>
            <p:ph idx="110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вопросов, закрывающих подготовку к первому спринту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41248" y="278892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89864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>
            <p:ph idx="111" type="body" hasCustomPrompt="1"/>
          </p:nvPr>
        </p:nvSpPr>
        <p:spPr>
          <a:xfrm>
            <a:off x="1463040" y="280720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Геймдизайн</a:t>
            </a:r>
            <a:endParaRPr lang="en-US" sz="1400" dirty="0"/>
          </a:p>
        </p:txBody>
      </p:sp>
      <p:sp>
        <p:nvSpPr>
          <p:cNvPr id="15" name="Text 8"/>
          <p:cNvSpPr/>
          <p:nvPr>
            <p:ph idx="112" type="body" hasCustomPrompt="1"/>
          </p:nvPr>
        </p:nvSpPr>
        <p:spPr>
          <a:xfrm>
            <a:off x="4480560" y="28072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настроения и баланс экономики: цифры дневного дохода, цена декора, шаг роста платных попыток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41248" y="348386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593592"/>
            <a:ext cx="219456" cy="219456"/>
          </a:xfrm>
          <a:prstGeom prst="rect">
            <a:avLst/>
          </a:prstGeom>
        </p:spPr>
      </p:pic>
      <p:sp>
        <p:nvSpPr>
          <p:cNvPr id="18" name="Text 8"/>
          <p:cNvSpPr/>
          <p:nvPr>
            <p:ph idx="113" type="body" hasCustomPrompt="1"/>
          </p:nvPr>
        </p:nvSpPr>
        <p:spPr>
          <a:xfrm>
            <a:off x="1463040" y="350215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</a:t>
            </a:r>
            <a:endParaRPr lang="en-US" sz="1400" dirty="0"/>
          </a:p>
        </p:txBody>
      </p:sp>
      <p:sp>
        <p:nvSpPr>
          <p:cNvPr id="19" name="Text 8"/>
          <p:cNvSpPr/>
          <p:nvPr>
            <p:ph idx="114" type="body" hasCustomPrompt="1"/>
          </p:nvPr>
        </p:nvSpPr>
        <p:spPr>
          <a:xfrm>
            <a:off x="4480560" y="3502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комнаты: 18 предметов по слотам, порядок открытия зон, первые двенадцать связок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411480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3A3355"/>
          </a:solidFill>
          <a:ln/>
        </p:spPr>
      </p:sp>
      <p:sp>
        <p:nvSpPr>
          <p:cNvPr id="21" name="Shape 15"/>
          <p:cNvSpPr/>
          <p:nvPr/>
        </p:nvSpPr>
        <p:spPr>
          <a:xfrm>
            <a:off x="841248" y="417880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E8963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28853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41970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480560" y="419709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финальную десятку гэгов из двадцати и проверить «жутковатые» на плейтесте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41248" y="487375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983480"/>
            <a:ext cx="219456" cy="219456"/>
          </a:xfrm>
          <a:prstGeom prst="rect">
            <a:avLst/>
          </a:prstGeom>
        </p:spPr>
      </p:pic>
      <p:sp>
        <p:nvSpPr>
          <p:cNvPr id="27" name="Text 8"/>
          <p:cNvSpPr/>
          <p:nvPr>
            <p:ph idx="117" type="body" hasCustomPrompt="1"/>
          </p:nvPr>
        </p:nvSpPr>
        <p:spPr>
          <a:xfrm>
            <a:off x="1463040" y="48920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</a:t>
            </a:r>
            <a:endParaRPr lang="en-US" sz="1400" dirty="0"/>
          </a:p>
        </p:txBody>
      </p:sp>
      <p:sp>
        <p:nvSpPr>
          <p:cNvPr id="28" name="Text 8"/>
          <p:cNvSpPr/>
          <p:nvPr>
            <p:ph idx="118" type="body" hasCustomPrompt="1"/>
          </p:nvPr>
        </p:nvSpPr>
        <p:spPr>
          <a:xfrm>
            <a:off x="4480560" y="489204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Утвердить правки к концепту и зафиксировать пайплайн к четвёртой неделе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841248" y="556869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A3355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5678424"/>
            <a:ext cx="219456" cy="219456"/>
          </a:xfrm>
          <a:prstGeom prst="rect">
            <a:avLst/>
          </a:prstGeom>
        </p:spPr>
      </p:pic>
      <p:sp>
        <p:nvSpPr>
          <p:cNvPr id="31" name="Text 8"/>
          <p:cNvSpPr/>
          <p:nvPr>
            <p:ph idx="119" type="body" hasCustomPrompt="1"/>
          </p:nvPr>
        </p:nvSpPr>
        <p:spPr>
          <a:xfrm>
            <a:off x="1463040" y="55869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</a:t>
            </a:r>
            <a:endParaRPr lang="en-US" sz="1400" dirty="0"/>
          </a:p>
        </p:txBody>
      </p:sp>
      <p:sp>
        <p:nvSpPr>
          <p:cNvPr id="32" name="Text 8"/>
          <p:cNvSpPr/>
          <p:nvPr>
            <p:ph idx="120" type="body" hasCustomPrompt="1"/>
          </p:nvPr>
        </p:nvSpPr>
        <p:spPr>
          <a:xfrm>
            <a:off x="4480560" y="558698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кота для соцсетей, тон коммуникации и старт контент-плана роликов с пятой недели</a:t>
            </a:r>
            <a:endParaRPr lang="en-US" sz="1300" dirty="0"/>
          </a:p>
        </p:txBody>
      </p:sp>
      <p:sp>
        <p:nvSpPr>
          <p:cNvPr id="33" name="Text 8"/>
          <p:cNvSpPr/>
          <p:nvPr>
            <p:ph idx="115" type="body" hasCustomPrompt="1"/>
          </p:nvPr>
        </p:nvSpPr>
        <p:spPr>
          <a:xfrm>
            <a:off x="1463040" y="41970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4" name="Text 8"/>
          <p:cNvSpPr/>
          <p:nvPr>
            <p:ph idx="116" type="body" hasCustomPrompt="1"/>
          </p:nvPr>
        </p:nvSpPr>
        <p:spPr>
          <a:xfrm>
            <a:off x="4480560" y="419709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240280"/>
            <a:ext cx="393192" cy="393192"/>
          </a:xfrm>
          <a:prstGeom prst="rect">
            <a:avLst/>
          </a:prstGeom>
        </p:spPr>
      </p:pic>
      <p:sp>
        <p:nvSpPr>
          <p:cNvPr id="3" name="Text 4"/>
          <p:cNvSpPr/>
          <p:nvPr>
            <p:ph idx="104" type="title" hasCustomPrompt="1"/>
          </p:nvPr>
        </p:nvSpPr>
        <p:spPr>
          <a:xfrm>
            <a:off x="2468880" y="30175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Начинаем с прототипа</a:t>
            </a:r>
            <a:endParaRPr lang="en-US" sz="3400" dirty="0"/>
          </a:p>
        </p:txBody>
      </p:sp>
      <p:sp>
        <p:nvSpPr>
          <p:cNvPr id="4" name="Text 4"/>
          <p:cNvSpPr/>
          <p:nvPr>
            <p:ph idx="105" type="body" hasCustomPrompt="1"/>
          </p:nvPr>
        </p:nvSpPr>
        <p:spPr>
          <a:xfrm>
            <a:off x="2834640" y="37947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две недели: комната-заглушка, кот ходит и прыгает, один гэг целиком — чтобы увидеть, смешно ли это на самом деле.</a:t>
            </a:r>
            <a:endParaRPr lang="en-US" sz="1500" dirty="0"/>
          </a:p>
        </p:txBody>
      </p:sp>
      <p:sp>
        <p:nvSpPr>
          <p:cNvPr id="5" name="Text 4"/>
          <p:cNvSpPr/>
          <p:nvPr>
            <p:ph idx="106" type="body" hasCustomPrompt="1"/>
          </p:nvPr>
        </p:nvSpPr>
        <p:spPr>
          <a:xfrm>
            <a:off x="0" y="544068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«Нет проигрыша — есть два вида веселья» (с) Шило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od_5_shkodn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6736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4" name="Shape 1"/>
          <p:cNvSpPr/>
          <p:nvPr/>
        </p:nvSpPr>
        <p:spPr>
          <a:xfrm>
            <a:off x="1627632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Shape 2"/>
          <p:cNvSpPr/>
          <p:nvPr/>
        </p:nvSpPr>
        <p:spPr>
          <a:xfrm>
            <a:off x="1938528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6" name="Shape 3"/>
          <p:cNvSpPr/>
          <p:nvPr/>
        </p:nvSpPr>
        <p:spPr>
          <a:xfrm>
            <a:off x="2249424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512064"/>
            <a:ext cx="265176" cy="201168"/>
          </a:xfrm>
          <a:prstGeom prst="rect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310896" cy="310896"/>
          </a:xfrm>
          <a:prstGeom prst="rect">
            <a:avLst/>
          </a:prstGeom>
        </p:spPr>
      </p:pic>
      <p:sp>
        <p:nvSpPr>
          <p:cNvPr id="9" name="Text 3"/>
          <p:cNvSpPr/>
          <p:nvPr>
            <p:ph idx="103" type="body" hasCustomPrompt="1"/>
          </p:nvPr>
        </p:nvSpPr>
        <p:spPr>
          <a:xfrm>
            <a:off x="64008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МЫСЛИ И ИДЕИ</a:t>
            </a:r>
            <a:endParaRPr lang="en-US" sz="1100" dirty="0"/>
          </a:p>
        </p:txBody>
      </p:sp>
      <p:sp>
        <p:nvSpPr>
          <p:cNvPr id="10" name="Text 3"/>
          <p:cNvSpPr/>
          <p:nvPr>
            <p:ph idx="104" type="title" hasCustomPrompt="1"/>
          </p:nvPr>
        </p:nvSpPr>
        <p:spPr>
          <a:xfrm>
            <a:off x="621792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ещё?</a:t>
            </a:r>
            <a:endParaRPr lang="en-US" sz="3300" dirty="0"/>
          </a:p>
        </p:txBody>
      </p:sp>
      <p:sp>
        <p:nvSpPr>
          <p:cNvPr id="11" name="Text 3"/>
          <p:cNvSpPr/>
          <p:nvPr>
            <p:ph idx="105" type="body" hasCustomPrompt="1"/>
          </p:nvPr>
        </p:nvSpPr>
        <p:spPr>
          <a:xfrm>
            <a:off x="640080" y="223113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идей команды: сюда складываем всё, что появится по ходу обсуждения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49808" y="2807208"/>
            <a:ext cx="10908792" cy="3017520"/>
          </a:xfrm>
          <a:prstGeom prst="roundRect">
            <a:avLst>
              <a:gd name="adj" fmla="val 3030"/>
            </a:avLst>
          </a:prstGeom>
          <a:solidFill>
            <a:srgbClr val="D9D0C0"/>
          </a:solidFill>
          <a:ln/>
        </p:spPr>
      </p:sp>
      <p:sp>
        <p:nvSpPr>
          <p:cNvPr id="13" name="Shape 9"/>
          <p:cNvSpPr/>
          <p:nvPr/>
        </p:nvSpPr>
        <p:spPr>
          <a:xfrm>
            <a:off x="640080" y="2697480"/>
            <a:ext cx="1090879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5240">
            <a:solidFill>
              <a:srgbClr val="3A335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896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 Was Here — MVP</dc:title>
  <dc:subject>PptxGenJS Presentation</dc:subject>
  <dc:creator>Команда «Котику грустно»</dc:creator>
  <cp:lastModifiedBy>Команда «Котику грустно»</cp:lastModifiedBy>
  <cp:revision>1</cp:revision>
  <dcterms:created xsi:type="dcterms:W3CDTF">2026-08-04T16:43:39Z</dcterms:created>
  <dcterms:modified xsi:type="dcterms:W3CDTF">2026-08-04T16:43:39Z</dcterms:modified>
</cp:coreProperties>
</file>